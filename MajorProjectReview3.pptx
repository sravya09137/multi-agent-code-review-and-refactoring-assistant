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png" ContentType="image/png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901" y="429259"/>
            <a:ext cx="3599179" cy="5137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252525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1" i="0">
                <a:solidFill>
                  <a:srgbClr val="585858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rgbClr val="252525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600" b="1" i="0">
                <a:solidFill>
                  <a:srgbClr val="585858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rgbClr val="252525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rgbClr val="252525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85901" y="309498"/>
            <a:ext cx="10440619" cy="895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252525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85901" y="1404366"/>
            <a:ext cx="7475855" cy="42652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1" i="0">
                <a:solidFill>
                  <a:srgbClr val="585858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2.jp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jpg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jpg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jpg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.jpg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jpg"/></Relationships>
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.jpg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13661" y="647446"/>
            <a:ext cx="8971280" cy="32073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R="97790">
              <a:lnSpc>
                <a:spcPct val="100000"/>
              </a:lnSpc>
              <a:spcBef>
                <a:spcPts val="95"/>
              </a:spcBef>
            </a:pPr>
            <a:r>
              <a:rPr dirty="0" sz="1600" spc="-20" b="1">
                <a:solidFill>
                  <a:srgbClr val="252525"/>
                </a:solidFill>
                <a:latin typeface="Times New Roman"/>
                <a:cs typeface="Times New Roman"/>
              </a:rPr>
              <a:t>K</a:t>
            </a:r>
            <a:r>
              <a:rPr dirty="0" sz="1600" spc="-110" b="1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dirty="0" sz="1600" spc="-20" b="1">
                <a:solidFill>
                  <a:srgbClr val="252525"/>
                </a:solidFill>
                <a:latin typeface="Times New Roman"/>
                <a:cs typeface="Times New Roman"/>
              </a:rPr>
              <a:t>O</a:t>
            </a:r>
            <a:r>
              <a:rPr dirty="0" sz="1600" spc="-110" b="1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dirty="0" sz="1600" spc="-25" b="1">
                <a:solidFill>
                  <a:srgbClr val="252525"/>
                </a:solidFill>
                <a:latin typeface="Times New Roman"/>
                <a:cs typeface="Times New Roman"/>
              </a:rPr>
              <a:t>M</a:t>
            </a:r>
            <a:r>
              <a:rPr dirty="0" sz="1600" spc="-100" b="1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dirty="0" sz="1600" spc="-25" b="1">
                <a:solidFill>
                  <a:srgbClr val="252525"/>
                </a:solidFill>
                <a:latin typeface="Times New Roman"/>
                <a:cs typeface="Times New Roman"/>
              </a:rPr>
              <a:t>M</a:t>
            </a:r>
            <a:r>
              <a:rPr dirty="0" sz="1600" spc="-95" b="1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dirty="0" sz="1600" b="1">
                <a:solidFill>
                  <a:srgbClr val="252525"/>
                </a:solidFill>
                <a:latin typeface="Times New Roman"/>
                <a:cs typeface="Times New Roman"/>
              </a:rPr>
              <a:t>U</a:t>
            </a:r>
            <a:r>
              <a:rPr dirty="0" sz="1600" spc="-105" b="1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dirty="0" sz="1600" b="1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dirty="0" sz="1600" spc="-105" b="1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dirty="0" sz="1600" b="1">
                <a:solidFill>
                  <a:srgbClr val="252525"/>
                </a:solidFill>
                <a:latin typeface="Times New Roman"/>
                <a:cs typeface="Times New Roman"/>
              </a:rPr>
              <a:t>I</a:t>
            </a:r>
            <a:r>
              <a:rPr dirty="0" sz="1600" spc="280" b="1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dirty="0" sz="1600" spc="-10" b="1">
                <a:solidFill>
                  <a:srgbClr val="252525"/>
                </a:solidFill>
                <a:latin typeface="Times New Roman"/>
                <a:cs typeface="Times New Roman"/>
              </a:rPr>
              <a:t>P</a:t>
            </a:r>
            <a:r>
              <a:rPr dirty="0" sz="1600" spc="-105" b="1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dirty="0" sz="1600" b="1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dirty="0" sz="1600" spc="-105" b="1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dirty="0" sz="1600" spc="114" b="1">
                <a:solidFill>
                  <a:srgbClr val="252525"/>
                </a:solidFill>
                <a:latin typeface="Times New Roman"/>
                <a:cs typeface="Times New Roman"/>
              </a:rPr>
              <a:t>ATA</a:t>
            </a:r>
            <a:r>
              <a:rPr dirty="0" sz="1600" spc="-100" b="1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dirty="0" sz="1600" b="1">
                <a:solidFill>
                  <a:srgbClr val="252525"/>
                </a:solidFill>
                <a:latin typeface="Times New Roman"/>
                <a:cs typeface="Times New Roman"/>
              </a:rPr>
              <a:t>P</a:t>
            </a:r>
            <a:r>
              <a:rPr dirty="0" sz="1600" spc="175" b="1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dirty="0" sz="1600" b="1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dirty="0" sz="1600" spc="-100" b="1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dirty="0" sz="1600" b="1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dirty="0" sz="1600" spc="-100" b="1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dirty="0" sz="1600" b="1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dirty="0" sz="1600" spc="-105" b="1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dirty="0" sz="1600" b="1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dirty="0" sz="1600" spc="-105" b="1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dirty="0" sz="1600" b="1">
                <a:solidFill>
                  <a:srgbClr val="252525"/>
                </a:solidFill>
                <a:latin typeface="Times New Roman"/>
                <a:cs typeface="Times New Roman"/>
              </a:rPr>
              <a:t>Y</a:t>
            </a:r>
            <a:r>
              <a:rPr dirty="0" sz="1600" spc="200" b="1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dirty="0" sz="1600" spc="-10" b="1">
                <a:solidFill>
                  <a:srgbClr val="252525"/>
                </a:solidFill>
                <a:latin typeface="Times New Roman"/>
                <a:cs typeface="Times New Roman"/>
              </a:rPr>
              <a:t>I</a:t>
            </a:r>
            <a:r>
              <a:rPr dirty="0" sz="1600" spc="-100" b="1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dirty="0" sz="1600" b="1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dirty="0" sz="1600" spc="-105" b="1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dirty="0" sz="1600" b="1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dirty="0" sz="1600" spc="-100" b="1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dirty="0" sz="1600" b="1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dirty="0" sz="1600" spc="-100" b="1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dirty="0" sz="1600" spc="-10" b="1">
                <a:solidFill>
                  <a:srgbClr val="252525"/>
                </a:solidFill>
                <a:latin typeface="Times New Roman"/>
                <a:cs typeface="Times New Roman"/>
              </a:rPr>
              <a:t>I</a:t>
            </a:r>
            <a:r>
              <a:rPr dirty="0" sz="1600" spc="-100" b="1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dirty="0" sz="1600" b="1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dirty="0" sz="1600" spc="-95" b="1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dirty="0" sz="1600" b="1">
                <a:solidFill>
                  <a:srgbClr val="252525"/>
                </a:solidFill>
                <a:latin typeface="Times New Roman"/>
                <a:cs typeface="Times New Roman"/>
              </a:rPr>
              <a:t>U</a:t>
            </a:r>
            <a:r>
              <a:rPr dirty="0" sz="1600" spc="-105" b="1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dirty="0" sz="1600" b="1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dirty="0" sz="1600" spc="-100" b="1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dirty="0" sz="1600" b="1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dirty="0" sz="1600" spc="265" b="1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dirty="0" sz="1600" spc="130" b="1">
                <a:solidFill>
                  <a:srgbClr val="252525"/>
                </a:solidFill>
                <a:latin typeface="Times New Roman"/>
                <a:cs typeface="Times New Roman"/>
              </a:rPr>
              <a:t>OF</a:t>
            </a:r>
            <a:r>
              <a:rPr dirty="0" sz="1600" spc="175" b="1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dirty="0" sz="1600" spc="-10" b="1">
                <a:solidFill>
                  <a:srgbClr val="252525"/>
                </a:solidFill>
                <a:latin typeface="Times New Roman"/>
                <a:cs typeface="Times New Roman"/>
              </a:rPr>
              <a:t>TECHNOLOGY</a:t>
            </a:r>
            <a:endParaRPr sz="1600">
              <a:latin typeface="Times New Roman"/>
              <a:cs typeface="Times New Roman"/>
            </a:endParaRPr>
          </a:p>
          <a:p>
            <a:pPr algn="ctr" marR="107314">
              <a:lnSpc>
                <a:spcPct val="100000"/>
              </a:lnSpc>
            </a:pPr>
            <a:r>
              <a:rPr dirty="0" sz="1600" b="1">
                <a:solidFill>
                  <a:srgbClr val="252525"/>
                </a:solidFill>
                <a:latin typeface="Times New Roman"/>
                <a:cs typeface="Times New Roman"/>
              </a:rPr>
              <a:t>(</a:t>
            </a:r>
            <a:r>
              <a:rPr dirty="0" sz="1600" spc="-85" b="1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dirty="0" sz="1600" spc="-30" b="1">
                <a:solidFill>
                  <a:srgbClr val="252525"/>
                </a:solidFill>
                <a:latin typeface="Times New Roman"/>
                <a:cs typeface="Times New Roman"/>
              </a:rPr>
              <a:t>UGC-</a:t>
            </a:r>
            <a:r>
              <a:rPr dirty="0" sz="1600" b="1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dirty="0" sz="1600" spc="-105" b="1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dirty="0" sz="1600" b="1">
                <a:solidFill>
                  <a:srgbClr val="252525"/>
                </a:solidFill>
                <a:latin typeface="Times New Roman"/>
                <a:cs typeface="Times New Roman"/>
              </a:rPr>
              <a:t>u</a:t>
            </a:r>
            <a:r>
              <a:rPr dirty="0" sz="1600" spc="-105" b="1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dirty="0" sz="1600" spc="-20" b="1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dirty="0" sz="1600" spc="-105" b="1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dirty="0" sz="1600" spc="-10" b="1">
                <a:solidFill>
                  <a:srgbClr val="252525"/>
                </a:solidFill>
                <a:latin typeface="Times New Roman"/>
                <a:cs typeface="Times New Roman"/>
              </a:rPr>
              <a:t>o</a:t>
            </a:r>
            <a:r>
              <a:rPr dirty="0" sz="1600" spc="-100" b="1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dirty="0" sz="1600" b="1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dirty="0" sz="1600" spc="-105" b="1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dirty="0" sz="1600" spc="-10" b="1">
                <a:solidFill>
                  <a:srgbClr val="252525"/>
                </a:solidFill>
                <a:latin typeface="Times New Roman"/>
                <a:cs typeface="Times New Roman"/>
              </a:rPr>
              <a:t>o</a:t>
            </a:r>
            <a:r>
              <a:rPr dirty="0" sz="1600" spc="-100" b="1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dirty="0" sz="1600" spc="-20" b="1">
                <a:solidFill>
                  <a:srgbClr val="252525"/>
                </a:solidFill>
                <a:latin typeface="Times New Roman"/>
                <a:cs typeface="Times New Roman"/>
              </a:rPr>
              <a:t>m</a:t>
            </a:r>
            <a:r>
              <a:rPr dirty="0" sz="1600" spc="-125" b="1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dirty="0" sz="1600" spc="-10" b="1">
                <a:solidFill>
                  <a:srgbClr val="252525"/>
                </a:solidFill>
                <a:latin typeface="Times New Roman"/>
                <a:cs typeface="Times New Roman"/>
              </a:rPr>
              <a:t>o</a:t>
            </a:r>
            <a:r>
              <a:rPr dirty="0" sz="1600" spc="-100" b="1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dirty="0" sz="1600" b="1">
                <a:solidFill>
                  <a:srgbClr val="252525"/>
                </a:solidFill>
                <a:latin typeface="Times New Roman"/>
                <a:cs typeface="Times New Roman"/>
              </a:rPr>
              <a:t>u</a:t>
            </a:r>
            <a:r>
              <a:rPr dirty="0" sz="1600" spc="-105" b="1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dirty="0" sz="1600" b="1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dirty="0" sz="1600" spc="335" b="1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dirty="0" sz="1600" spc="-10" b="1">
                <a:solidFill>
                  <a:srgbClr val="252525"/>
                </a:solidFill>
                <a:latin typeface="Times New Roman"/>
                <a:cs typeface="Times New Roman"/>
              </a:rPr>
              <a:t>Institution</a:t>
            </a:r>
            <a:r>
              <a:rPr dirty="0" sz="1600" spc="25" b="1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dirty="0" sz="1600" spc="-50" b="1">
                <a:solidFill>
                  <a:srgbClr val="252525"/>
                </a:solidFill>
                <a:latin typeface="Times New Roman"/>
                <a:cs typeface="Times New Roman"/>
              </a:rPr>
              <a:t>)</a:t>
            </a:r>
            <a:endParaRPr sz="1600">
              <a:latin typeface="Times New Roman"/>
              <a:cs typeface="Times New Roman"/>
            </a:endParaRPr>
          </a:p>
          <a:p>
            <a:pPr algn="ctr" marR="109220">
              <a:lnSpc>
                <a:spcPct val="100000"/>
              </a:lnSpc>
            </a:pPr>
            <a:r>
              <a:rPr dirty="0" sz="1600" spc="-20" b="1">
                <a:solidFill>
                  <a:srgbClr val="252525"/>
                </a:solidFill>
                <a:latin typeface="Times New Roman"/>
                <a:cs typeface="Times New Roman"/>
              </a:rPr>
              <a:t>G</a:t>
            </a:r>
            <a:r>
              <a:rPr dirty="0" sz="1600" spc="-110" b="1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dirty="0" sz="1600" b="1">
                <a:solidFill>
                  <a:srgbClr val="252525"/>
                </a:solidFill>
                <a:latin typeface="Times New Roman"/>
                <a:cs typeface="Times New Roman"/>
              </a:rPr>
              <a:t>h</a:t>
            </a:r>
            <a:r>
              <a:rPr dirty="0" sz="1600" spc="-100" b="1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dirty="0" sz="1600" spc="-10" b="1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dirty="0" sz="1600" spc="-95" b="1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dirty="0" sz="1600" b="1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dirty="0" sz="1600" spc="-100" b="1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dirty="0" sz="1600" b="1">
                <a:solidFill>
                  <a:srgbClr val="252525"/>
                </a:solidFill>
                <a:latin typeface="Times New Roman"/>
                <a:cs typeface="Times New Roman"/>
              </a:rPr>
              <a:t>p</a:t>
            </a:r>
            <a:r>
              <a:rPr dirty="0" sz="1600" spc="-100" b="1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dirty="0" sz="1600" b="1">
                <a:solidFill>
                  <a:srgbClr val="252525"/>
                </a:solidFill>
                <a:latin typeface="Times New Roman"/>
                <a:cs typeface="Times New Roman"/>
              </a:rPr>
              <a:t>u</a:t>
            </a:r>
            <a:r>
              <a:rPr dirty="0" sz="1600" spc="-105" b="1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dirty="0" sz="1600" b="1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dirty="0" sz="1600" spc="-85" b="1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dirty="0" sz="1600" spc="-20" b="1">
                <a:solidFill>
                  <a:srgbClr val="252525"/>
                </a:solidFill>
                <a:latin typeface="Times New Roman"/>
                <a:cs typeface="Times New Roman"/>
              </a:rPr>
              <a:t>(</a:t>
            </a:r>
            <a:r>
              <a:rPr dirty="0" sz="1600" spc="-100" b="1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dirty="0" sz="1600" b="1">
                <a:solidFill>
                  <a:srgbClr val="252525"/>
                </a:solidFill>
                <a:latin typeface="Times New Roman"/>
                <a:cs typeface="Times New Roman"/>
              </a:rPr>
              <a:t>V</a:t>
            </a:r>
            <a:r>
              <a:rPr dirty="0" sz="1600" spc="-100" b="1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dirty="0" sz="1600" spc="-20" b="1">
                <a:solidFill>
                  <a:srgbClr val="252525"/>
                </a:solidFill>
                <a:latin typeface="Times New Roman"/>
                <a:cs typeface="Times New Roman"/>
              </a:rPr>
              <a:t>)</a:t>
            </a:r>
            <a:r>
              <a:rPr dirty="0" sz="1600" spc="-100" b="1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dirty="0" sz="1600" b="1">
                <a:solidFill>
                  <a:srgbClr val="252525"/>
                </a:solidFill>
                <a:latin typeface="Times New Roman"/>
                <a:cs typeface="Times New Roman"/>
              </a:rPr>
              <a:t>,</a:t>
            </a:r>
            <a:r>
              <a:rPr dirty="0" sz="1600" spc="285" b="1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dirty="0" sz="1600" spc="-20" b="1">
                <a:solidFill>
                  <a:srgbClr val="252525"/>
                </a:solidFill>
                <a:latin typeface="Times New Roman"/>
                <a:cs typeface="Times New Roman"/>
              </a:rPr>
              <a:t>G</a:t>
            </a:r>
            <a:r>
              <a:rPr dirty="0" sz="1600" spc="-105" b="1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dirty="0" sz="1600" b="1">
                <a:solidFill>
                  <a:srgbClr val="252525"/>
                </a:solidFill>
                <a:latin typeface="Times New Roman"/>
                <a:cs typeface="Times New Roman"/>
              </a:rPr>
              <a:t>h</a:t>
            </a:r>
            <a:r>
              <a:rPr dirty="0" sz="1600" spc="-100" b="1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dirty="0" sz="1600" spc="-10" b="1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dirty="0" sz="1600" spc="-95" b="1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dirty="0" sz="1600" spc="-20" b="1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dirty="0" sz="1600" spc="-100" b="1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dirty="0" sz="1600" b="1">
                <a:solidFill>
                  <a:srgbClr val="252525"/>
                </a:solidFill>
                <a:latin typeface="Times New Roman"/>
                <a:cs typeface="Times New Roman"/>
              </a:rPr>
              <a:t>k</a:t>
            </a:r>
            <a:r>
              <a:rPr dirty="0" sz="1600" spc="-114" b="1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dirty="0" sz="1600" spc="-10" b="1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dirty="0" sz="1600" spc="-100" b="1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dirty="0" sz="1600" spc="-10" b="1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dirty="0" sz="1600" spc="-95" b="1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dirty="0" sz="1600" spc="-10" b="1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dirty="0" sz="1600" spc="-95" b="1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dirty="0" sz="1600" b="1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dirty="0" sz="1600" spc="-85" b="1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dirty="0" sz="1600" spc="-20" b="1">
                <a:solidFill>
                  <a:srgbClr val="252525"/>
                </a:solidFill>
                <a:latin typeface="Times New Roman"/>
                <a:cs typeface="Times New Roman"/>
              </a:rPr>
              <a:t>(</a:t>
            </a:r>
            <a:r>
              <a:rPr dirty="0" sz="1600" spc="-105" b="1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dirty="0" sz="1600" spc="-25" b="1">
                <a:solidFill>
                  <a:srgbClr val="252525"/>
                </a:solidFill>
                <a:latin typeface="Times New Roman"/>
                <a:cs typeface="Times New Roman"/>
              </a:rPr>
              <a:t>M</a:t>
            </a:r>
            <a:r>
              <a:rPr dirty="0" sz="1600" spc="-95" b="1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dirty="0" sz="1600" spc="-20" b="1">
                <a:solidFill>
                  <a:srgbClr val="252525"/>
                </a:solidFill>
                <a:latin typeface="Times New Roman"/>
                <a:cs typeface="Times New Roman"/>
              </a:rPr>
              <a:t>)</a:t>
            </a:r>
            <a:r>
              <a:rPr dirty="0" sz="1600" spc="-100" b="1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dirty="0" sz="1600" b="1">
                <a:solidFill>
                  <a:srgbClr val="252525"/>
                </a:solidFill>
                <a:latin typeface="Times New Roman"/>
                <a:cs typeface="Times New Roman"/>
              </a:rPr>
              <a:t>,</a:t>
            </a:r>
            <a:r>
              <a:rPr dirty="0" sz="1600" spc="330" b="1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dirty="0" sz="1600" spc="-25" b="1">
                <a:solidFill>
                  <a:srgbClr val="252525"/>
                </a:solidFill>
                <a:latin typeface="Times New Roman"/>
                <a:cs typeface="Times New Roman"/>
              </a:rPr>
              <a:t>M</a:t>
            </a:r>
            <a:r>
              <a:rPr dirty="0" sz="1600" spc="-95" b="1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dirty="0" sz="1600" spc="-10" b="1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dirty="0" sz="1600" spc="-100" b="1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dirty="0" sz="1600" b="1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dirty="0" sz="1600" spc="-105" b="1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dirty="0" sz="1600" spc="-10" b="1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dirty="0" sz="1600" spc="-100" b="1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dirty="0" sz="1600" b="1">
                <a:solidFill>
                  <a:srgbClr val="252525"/>
                </a:solidFill>
                <a:latin typeface="Times New Roman"/>
                <a:cs typeface="Times New Roman"/>
              </a:rPr>
              <a:t>h</a:t>
            </a:r>
            <a:r>
              <a:rPr dirty="0" sz="1600" spc="-100" b="1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dirty="0" sz="1600" spc="-10" b="1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dirty="0" sz="1600" spc="-95" b="1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dirty="0" sz="1600" b="1">
                <a:solidFill>
                  <a:srgbClr val="252525"/>
                </a:solidFill>
                <a:latin typeface="Times New Roman"/>
                <a:cs typeface="Times New Roman"/>
              </a:rPr>
              <a:t>l</a:t>
            </a:r>
            <a:r>
              <a:rPr dirty="0" sz="1600" spc="-85" b="1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dirty="0" sz="1600" spc="-20" b="1">
                <a:solidFill>
                  <a:srgbClr val="252525"/>
                </a:solidFill>
                <a:latin typeface="Times New Roman"/>
                <a:cs typeface="Times New Roman"/>
              </a:rPr>
              <a:t>(</a:t>
            </a:r>
            <a:r>
              <a:rPr dirty="0" sz="1600" spc="-105" b="1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dirty="0" sz="1600" b="1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dirty="0" sz="1600" spc="-100" b="1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dirty="0" sz="1600" spc="-20" b="1">
                <a:solidFill>
                  <a:srgbClr val="252525"/>
                </a:solidFill>
                <a:latin typeface="Times New Roman"/>
                <a:cs typeface="Times New Roman"/>
              </a:rPr>
              <a:t>)</a:t>
            </a:r>
            <a:r>
              <a:rPr dirty="0" sz="1600" spc="-100" b="1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dirty="0" sz="1600" b="1">
                <a:solidFill>
                  <a:srgbClr val="252525"/>
                </a:solidFill>
                <a:latin typeface="Times New Roman"/>
                <a:cs typeface="Times New Roman"/>
              </a:rPr>
              <a:t>,</a:t>
            </a:r>
            <a:r>
              <a:rPr dirty="0" sz="1600" spc="280" b="1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dirty="0" sz="1600" spc="-30" b="1">
                <a:solidFill>
                  <a:srgbClr val="252525"/>
                </a:solidFill>
                <a:latin typeface="Times New Roman"/>
                <a:cs typeface="Times New Roman"/>
              </a:rPr>
              <a:t>Hyderabad-</a:t>
            </a:r>
            <a:r>
              <a:rPr dirty="0" sz="1600" spc="-10" b="1">
                <a:solidFill>
                  <a:srgbClr val="252525"/>
                </a:solidFill>
                <a:latin typeface="Times New Roman"/>
                <a:cs typeface="Times New Roman"/>
              </a:rPr>
              <a:t>500088</a:t>
            </a: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25"/>
              </a:spcBef>
            </a:pPr>
            <a:endParaRPr sz="1600">
              <a:latin typeface="Times New Roman"/>
              <a:cs typeface="Times New Roman"/>
            </a:endParaRPr>
          </a:p>
          <a:p>
            <a:pPr algn="ctr" marL="85090">
              <a:lnSpc>
                <a:spcPct val="100000"/>
              </a:lnSpc>
              <a:spcBef>
                <a:spcPts val="5"/>
              </a:spcBef>
            </a:pPr>
            <a:r>
              <a:rPr dirty="0" u="sng" sz="2400" spc="-254">
                <a:solidFill>
                  <a:srgbClr val="585858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DEPARTMENT</a:t>
            </a:r>
            <a:r>
              <a:rPr dirty="0" u="sng" sz="2400" spc="-220">
                <a:solidFill>
                  <a:srgbClr val="585858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400" spc="-110">
                <a:solidFill>
                  <a:srgbClr val="585858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OF</a:t>
            </a:r>
            <a:r>
              <a:rPr dirty="0" u="sng" sz="2400" spc="-60">
                <a:solidFill>
                  <a:srgbClr val="585858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400" spc="-210">
                <a:solidFill>
                  <a:srgbClr val="585858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COMPUTER</a:t>
            </a:r>
            <a:r>
              <a:rPr dirty="0" u="sng" sz="2400" spc="-160">
                <a:solidFill>
                  <a:srgbClr val="585858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400" spc="-225">
                <a:solidFill>
                  <a:srgbClr val="585858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SCIENCE</a:t>
            </a:r>
            <a:r>
              <a:rPr dirty="0" u="sng" sz="2400" spc="-175">
                <a:solidFill>
                  <a:srgbClr val="585858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400" spc="-105">
                <a:solidFill>
                  <a:srgbClr val="585858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ENGINEERING</a:t>
            </a:r>
            <a:r>
              <a:rPr dirty="0" u="sng" sz="2400" spc="-80">
                <a:solidFill>
                  <a:srgbClr val="585858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400" spc="-10">
                <a:solidFill>
                  <a:srgbClr val="585858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(AI&amp;ML)</a:t>
            </a:r>
            <a:endParaRPr sz="2400">
              <a:latin typeface="Times New Roman"/>
              <a:cs typeface="Times New Roman"/>
            </a:endParaRPr>
          </a:p>
          <a:p>
            <a:pPr algn="ctr" marL="73660">
              <a:lnSpc>
                <a:spcPct val="100000"/>
              </a:lnSpc>
              <a:spcBef>
                <a:spcPts val="1019"/>
              </a:spcBef>
              <a:tabLst>
                <a:tab pos="1008380" algn="l"/>
              </a:tabLst>
            </a:pPr>
            <a:r>
              <a:rPr dirty="0" sz="2000" spc="125">
                <a:solidFill>
                  <a:srgbClr val="585858"/>
                </a:solidFill>
                <a:latin typeface="Arial"/>
                <a:cs typeface="Arial"/>
              </a:rPr>
              <a:t>IOMP</a:t>
            </a:r>
            <a:r>
              <a:rPr dirty="0" sz="2000">
                <a:solidFill>
                  <a:srgbClr val="585858"/>
                </a:solidFill>
                <a:latin typeface="Arial"/>
                <a:cs typeface="Arial"/>
              </a:rPr>
              <a:t>	</a:t>
            </a:r>
            <a:r>
              <a:rPr dirty="0" sz="2000" spc="160">
                <a:solidFill>
                  <a:srgbClr val="585858"/>
                </a:solidFill>
                <a:latin typeface="Arial"/>
                <a:cs typeface="Arial"/>
              </a:rPr>
              <a:t>REVIEW</a:t>
            </a:r>
            <a:r>
              <a:rPr dirty="0" sz="2000" spc="40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585858"/>
                </a:solidFill>
                <a:latin typeface="Arial"/>
                <a:cs typeface="Arial"/>
              </a:rPr>
              <a:t>–</a:t>
            </a:r>
            <a:r>
              <a:rPr dirty="0" sz="2000" spc="375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dirty="0" sz="2000" spc="75">
                <a:solidFill>
                  <a:srgbClr val="585858"/>
                </a:solidFill>
                <a:latin typeface="Arial"/>
                <a:cs typeface="Arial"/>
              </a:rPr>
              <a:t>02 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45"/>
              </a:spcBef>
            </a:pP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2000" spc="130" b="1">
                <a:solidFill>
                  <a:srgbClr val="585858"/>
                </a:solidFill>
                <a:latin typeface="Times New Roman"/>
                <a:cs typeface="Times New Roman"/>
              </a:rPr>
              <a:t>MULTI-</a:t>
            </a:r>
            <a:r>
              <a:rPr dirty="0" sz="2000" spc="-300" b="1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2000" spc="140" b="1">
                <a:solidFill>
                  <a:srgbClr val="585858"/>
                </a:solidFill>
                <a:latin typeface="Times New Roman"/>
                <a:cs typeface="Times New Roman"/>
              </a:rPr>
              <a:t>AGENT</a:t>
            </a:r>
            <a:r>
              <a:rPr dirty="0" sz="2000" spc="335" b="1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2000" spc="140" b="1">
                <a:solidFill>
                  <a:srgbClr val="585858"/>
                </a:solidFill>
                <a:latin typeface="Times New Roman"/>
                <a:cs typeface="Times New Roman"/>
              </a:rPr>
              <a:t>CODE</a:t>
            </a:r>
            <a:r>
              <a:rPr dirty="0" sz="2000" spc="395" b="1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2000" spc="155" b="1">
                <a:solidFill>
                  <a:srgbClr val="585858"/>
                </a:solidFill>
                <a:latin typeface="Times New Roman"/>
                <a:cs typeface="Times New Roman"/>
              </a:rPr>
              <a:t>REVIEW</a:t>
            </a:r>
            <a:r>
              <a:rPr dirty="0" sz="2000" spc="245" b="1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2000" spc="120" b="1">
                <a:solidFill>
                  <a:srgbClr val="585858"/>
                </a:solidFill>
                <a:latin typeface="Times New Roman"/>
                <a:cs typeface="Times New Roman"/>
              </a:rPr>
              <a:t>AND</a:t>
            </a:r>
            <a:r>
              <a:rPr dirty="0" sz="2000" spc="400" b="1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2000" spc="150" b="1">
                <a:solidFill>
                  <a:srgbClr val="585858"/>
                </a:solidFill>
                <a:latin typeface="Times New Roman"/>
                <a:cs typeface="Times New Roman"/>
              </a:rPr>
              <a:t>REFACTORING</a:t>
            </a:r>
            <a:r>
              <a:rPr dirty="0" sz="2000" spc="265" b="1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2000" spc="140" b="1">
                <a:solidFill>
                  <a:srgbClr val="585858"/>
                </a:solidFill>
                <a:latin typeface="Times New Roman"/>
                <a:cs typeface="Times New Roman"/>
              </a:rPr>
              <a:t>ASSISTANT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88859" y="609917"/>
            <a:ext cx="1153795" cy="86023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897236" y="593216"/>
            <a:ext cx="954262" cy="87693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108735" y="4566615"/>
            <a:ext cx="273875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u="sng" sz="1600" spc="-2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6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UNDER</a:t>
            </a:r>
            <a:r>
              <a:rPr dirty="0" u="sng" sz="1600" spc="-5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6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THE</a:t>
            </a:r>
            <a:r>
              <a:rPr dirty="0" u="sng" sz="1600" spc="-2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6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GUIDANCE</a:t>
            </a:r>
            <a:r>
              <a:rPr dirty="0" u="sng" sz="1600" spc="-2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6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OF</a:t>
            </a:r>
            <a:r>
              <a:rPr dirty="0" u="sng" sz="1600" spc="-2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600" spc="-5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: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59255" y="5054853"/>
            <a:ext cx="3049270" cy="7569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56540" marR="523875" indent="569595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latin typeface="Times New Roman"/>
                <a:cs typeface="Times New Roman"/>
              </a:rPr>
              <a:t>G.</a:t>
            </a:r>
            <a:r>
              <a:rPr dirty="0" sz="1600" spc="-10">
                <a:latin typeface="Times New Roman"/>
                <a:cs typeface="Times New Roman"/>
              </a:rPr>
              <a:t> </a:t>
            </a:r>
            <a:r>
              <a:rPr dirty="0" sz="1600" spc="-20">
                <a:latin typeface="Times New Roman"/>
                <a:cs typeface="Times New Roman"/>
              </a:rPr>
              <a:t>DIVYA ASSISTANT</a:t>
            </a:r>
            <a:r>
              <a:rPr dirty="0" sz="1600" spc="-25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PROFESSOR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600" spc="-30">
                <a:latin typeface="Times New Roman"/>
                <a:cs typeface="Times New Roman"/>
              </a:rPr>
              <a:t>DEPARTMENT</a:t>
            </a:r>
            <a:r>
              <a:rPr dirty="0" sz="1600" spc="-3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OF</a:t>
            </a:r>
            <a:r>
              <a:rPr dirty="0" sz="1600" spc="-1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CSE</a:t>
            </a:r>
            <a:r>
              <a:rPr dirty="0" sz="1600" spc="-1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(AI &amp;</a:t>
            </a:r>
            <a:r>
              <a:rPr dirty="0" sz="1600" spc="-10">
                <a:latin typeface="Times New Roman"/>
                <a:cs typeface="Times New Roman"/>
              </a:rPr>
              <a:t> </a:t>
            </a:r>
            <a:r>
              <a:rPr dirty="0" sz="1600" spc="-25">
                <a:latin typeface="Times New Roman"/>
                <a:cs typeface="Times New Roman"/>
              </a:rPr>
              <a:t>ML)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950834" y="4566615"/>
            <a:ext cx="160655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u="sng" sz="16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PRESENTED</a:t>
            </a:r>
            <a:r>
              <a:rPr dirty="0" u="sng" sz="1600" spc="-2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6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BY</a:t>
            </a:r>
            <a:r>
              <a:rPr dirty="0" u="sng" sz="1600" spc="-7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600" spc="-5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: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545069" y="5054853"/>
            <a:ext cx="3000375" cy="10007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latin typeface="Times New Roman"/>
                <a:cs typeface="Times New Roman"/>
              </a:rPr>
              <a:t>K</a:t>
            </a:r>
            <a:r>
              <a:rPr dirty="0" sz="1600" spc="10">
                <a:latin typeface="Times New Roman"/>
                <a:cs typeface="Times New Roman"/>
              </a:rPr>
              <a:t> </a:t>
            </a:r>
            <a:r>
              <a:rPr dirty="0" sz="1600" spc="-70">
                <a:latin typeface="Times New Roman"/>
                <a:cs typeface="Times New Roman"/>
              </a:rPr>
              <a:t>SRAVYA</a:t>
            </a:r>
            <a:r>
              <a:rPr dirty="0" sz="1600" spc="-80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(23RA1A66B4)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600">
                <a:latin typeface="Times New Roman"/>
                <a:cs typeface="Times New Roman"/>
              </a:rPr>
              <a:t>N.</a:t>
            </a:r>
            <a:r>
              <a:rPr dirty="0" sz="1600" spc="10">
                <a:latin typeface="Times New Roman"/>
                <a:cs typeface="Times New Roman"/>
              </a:rPr>
              <a:t> </a:t>
            </a:r>
            <a:r>
              <a:rPr dirty="0" sz="1600" spc="-20">
                <a:latin typeface="Times New Roman"/>
                <a:cs typeface="Times New Roman"/>
              </a:rPr>
              <a:t>PUJITHA</a:t>
            </a:r>
            <a:r>
              <a:rPr dirty="0" sz="1600" spc="-55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(23RA1A6676)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1664970" algn="l"/>
              </a:tabLst>
            </a:pPr>
            <a:r>
              <a:rPr dirty="0" sz="1600">
                <a:latin typeface="Times New Roman"/>
                <a:cs typeface="Times New Roman"/>
              </a:rPr>
              <a:t>K.</a:t>
            </a:r>
            <a:r>
              <a:rPr dirty="0" sz="1600" spc="-65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YESHWANTH</a:t>
            </a:r>
            <a:r>
              <a:rPr dirty="0" sz="1600">
                <a:latin typeface="Times New Roman"/>
                <a:cs typeface="Times New Roman"/>
              </a:rPr>
              <a:t>	</a:t>
            </a:r>
            <a:r>
              <a:rPr dirty="0" sz="1600" spc="-10">
                <a:latin typeface="Times New Roman"/>
                <a:cs typeface="Times New Roman"/>
              </a:rPr>
              <a:t>(23RA1A66D9)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600" spc="-95">
                <a:latin typeface="Times New Roman"/>
                <a:cs typeface="Times New Roman"/>
              </a:rPr>
              <a:t>P.</a:t>
            </a:r>
            <a:r>
              <a:rPr dirty="0" sz="1600" spc="-3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VINITH</a:t>
            </a:r>
            <a:r>
              <a:rPr dirty="0" sz="1600" spc="-60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(23RA1A66D2)</a:t>
            </a:r>
            <a:endParaRPr sz="1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83132" y="355219"/>
            <a:ext cx="4988560" cy="51371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334260" algn="l"/>
              </a:tabLst>
            </a:pPr>
            <a:r>
              <a:rPr dirty="0" spc="229"/>
              <a:t>PROBLEM</a:t>
            </a:r>
            <a:r>
              <a:rPr dirty="0"/>
              <a:t>	</a:t>
            </a:r>
            <a:r>
              <a:rPr dirty="0" spc="180"/>
              <a:t>STATEMENT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88949" y="1333576"/>
            <a:ext cx="5416550" cy="399478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5"/>
              </a:spcBef>
              <a:buChar char="•"/>
              <a:tabLst>
                <a:tab pos="240665" algn="l"/>
              </a:tabLst>
            </a:pPr>
            <a:r>
              <a:rPr dirty="0" sz="2000" spc="130">
                <a:solidFill>
                  <a:srgbClr val="585858"/>
                </a:solidFill>
                <a:latin typeface="Arial"/>
                <a:cs typeface="Arial"/>
              </a:rPr>
              <a:t>Continuous</a:t>
            </a:r>
            <a:r>
              <a:rPr dirty="0" sz="2000" spc="254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dirty="0" sz="2000" spc="110">
                <a:solidFill>
                  <a:srgbClr val="585858"/>
                </a:solidFill>
                <a:latin typeface="Arial"/>
                <a:cs typeface="Arial"/>
              </a:rPr>
              <a:t>Code</a:t>
            </a:r>
            <a:r>
              <a:rPr dirty="0" sz="2000" spc="265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dirty="0" sz="2000" spc="114">
                <a:solidFill>
                  <a:srgbClr val="585858"/>
                </a:solidFill>
                <a:latin typeface="Arial"/>
                <a:cs typeface="Arial"/>
              </a:rPr>
              <a:t>Review</a:t>
            </a:r>
            <a:r>
              <a:rPr dirty="0" sz="2000" spc="28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dirty="0" sz="2000" spc="114">
                <a:solidFill>
                  <a:srgbClr val="585858"/>
                </a:solidFill>
                <a:latin typeface="Arial"/>
                <a:cs typeface="Arial"/>
              </a:rPr>
              <a:t>Required</a:t>
            </a:r>
            <a:endParaRPr sz="2000">
              <a:latin typeface="Arial"/>
              <a:cs typeface="Arial"/>
            </a:endParaRPr>
          </a:p>
          <a:p>
            <a:pPr marL="240665" indent="-227965">
              <a:lnSpc>
                <a:spcPct val="100000"/>
              </a:lnSpc>
              <a:spcBef>
                <a:spcPts val="1720"/>
              </a:spcBef>
              <a:buChar char="•"/>
              <a:tabLst>
                <a:tab pos="240665" algn="l"/>
              </a:tabLst>
            </a:pPr>
            <a:r>
              <a:rPr dirty="0" sz="2000" spc="110">
                <a:solidFill>
                  <a:srgbClr val="585858"/>
                </a:solidFill>
                <a:latin typeface="Arial"/>
                <a:cs typeface="Arial"/>
              </a:rPr>
              <a:t>Code</a:t>
            </a:r>
            <a:r>
              <a:rPr dirty="0" sz="2000" spc="26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dirty="0" sz="2000" spc="125">
                <a:solidFill>
                  <a:srgbClr val="585858"/>
                </a:solidFill>
                <a:latin typeface="Arial"/>
                <a:cs typeface="Arial"/>
              </a:rPr>
              <a:t>Quality</a:t>
            </a:r>
            <a:r>
              <a:rPr dirty="0" sz="2000" spc="254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dirty="0" sz="2000" spc="125">
                <a:solidFill>
                  <a:srgbClr val="585858"/>
                </a:solidFill>
                <a:latin typeface="Arial"/>
                <a:cs typeface="Arial"/>
              </a:rPr>
              <a:t>Issues</a:t>
            </a:r>
            <a:r>
              <a:rPr dirty="0" sz="2000" spc="254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dirty="0" sz="2000" spc="120">
                <a:solidFill>
                  <a:srgbClr val="585858"/>
                </a:solidFill>
                <a:latin typeface="Arial"/>
                <a:cs typeface="Arial"/>
              </a:rPr>
              <a:t>Increase</a:t>
            </a:r>
            <a:endParaRPr sz="2000">
              <a:latin typeface="Arial"/>
              <a:cs typeface="Arial"/>
            </a:endParaRPr>
          </a:p>
          <a:p>
            <a:pPr marL="240665" indent="-227965">
              <a:lnSpc>
                <a:spcPct val="100000"/>
              </a:lnSpc>
              <a:spcBef>
                <a:spcPts val="1725"/>
              </a:spcBef>
              <a:buChar char="•"/>
              <a:tabLst>
                <a:tab pos="240665" algn="l"/>
              </a:tabLst>
            </a:pPr>
            <a:r>
              <a:rPr dirty="0" sz="2000" spc="125">
                <a:solidFill>
                  <a:srgbClr val="585858"/>
                </a:solidFill>
                <a:latin typeface="Arial"/>
                <a:cs typeface="Arial"/>
              </a:rPr>
              <a:t>Security</a:t>
            </a:r>
            <a:r>
              <a:rPr dirty="0" sz="2000" spc="28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dirty="0" sz="2000" spc="125">
                <a:solidFill>
                  <a:srgbClr val="585858"/>
                </a:solidFill>
                <a:latin typeface="Arial"/>
                <a:cs typeface="Arial"/>
              </a:rPr>
              <a:t>Vulnerabilities</a:t>
            </a:r>
            <a:r>
              <a:rPr dirty="0" sz="2000" spc="30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dirty="0" sz="2000" spc="110">
                <a:solidFill>
                  <a:srgbClr val="585858"/>
                </a:solidFill>
                <a:latin typeface="Arial"/>
                <a:cs typeface="Arial"/>
              </a:rPr>
              <a:t>Need</a:t>
            </a:r>
            <a:r>
              <a:rPr dirty="0" sz="2000" spc="295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dirty="0" sz="2000" spc="114">
                <a:solidFill>
                  <a:srgbClr val="585858"/>
                </a:solidFill>
                <a:latin typeface="Arial"/>
                <a:cs typeface="Arial"/>
              </a:rPr>
              <a:t>Detection</a:t>
            </a:r>
            <a:endParaRPr sz="2000">
              <a:latin typeface="Arial"/>
              <a:cs typeface="Arial"/>
            </a:endParaRPr>
          </a:p>
          <a:p>
            <a:pPr marL="240665" indent="-227965">
              <a:lnSpc>
                <a:spcPct val="100000"/>
              </a:lnSpc>
              <a:spcBef>
                <a:spcPts val="1720"/>
              </a:spcBef>
              <a:buChar char="•"/>
              <a:tabLst>
                <a:tab pos="240665" algn="l"/>
              </a:tabLst>
            </a:pPr>
            <a:r>
              <a:rPr dirty="0" sz="2000" spc="130">
                <a:solidFill>
                  <a:srgbClr val="585858"/>
                </a:solidFill>
                <a:latin typeface="Arial"/>
                <a:cs typeface="Arial"/>
              </a:rPr>
              <a:t>Complexity</a:t>
            </a:r>
            <a:r>
              <a:rPr dirty="0" sz="2000" spc="15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dirty="0" sz="2000" spc="120">
                <a:solidFill>
                  <a:srgbClr val="585858"/>
                </a:solidFill>
                <a:latin typeface="Arial"/>
                <a:cs typeface="Arial"/>
              </a:rPr>
              <a:t>Affects</a:t>
            </a:r>
            <a:r>
              <a:rPr dirty="0" sz="2000" spc="25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dirty="0" sz="2000" spc="110">
                <a:solidFill>
                  <a:srgbClr val="585858"/>
                </a:solidFill>
                <a:latin typeface="Arial"/>
                <a:cs typeface="Arial"/>
              </a:rPr>
              <a:t>Code</a:t>
            </a:r>
            <a:r>
              <a:rPr dirty="0" sz="2000" spc="27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dirty="0" sz="2000" spc="125">
                <a:solidFill>
                  <a:srgbClr val="585858"/>
                </a:solidFill>
                <a:latin typeface="Arial"/>
                <a:cs typeface="Arial"/>
              </a:rPr>
              <a:t>Maintainability</a:t>
            </a:r>
            <a:endParaRPr sz="2000">
              <a:latin typeface="Arial"/>
              <a:cs typeface="Arial"/>
            </a:endParaRPr>
          </a:p>
          <a:p>
            <a:pPr marL="240665" indent="-227965">
              <a:lnSpc>
                <a:spcPct val="100000"/>
              </a:lnSpc>
              <a:spcBef>
                <a:spcPts val="1714"/>
              </a:spcBef>
              <a:buChar char="•"/>
              <a:tabLst>
                <a:tab pos="240665" algn="l"/>
              </a:tabLst>
            </a:pPr>
            <a:r>
              <a:rPr dirty="0" sz="2000" spc="120">
                <a:solidFill>
                  <a:srgbClr val="585858"/>
                </a:solidFill>
                <a:latin typeface="Arial"/>
                <a:cs typeface="Arial"/>
              </a:rPr>
              <a:t>Manual</a:t>
            </a:r>
            <a:r>
              <a:rPr dirty="0" sz="2000" spc="165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dirty="0" sz="2000" spc="125">
                <a:solidFill>
                  <a:srgbClr val="585858"/>
                </a:solidFill>
                <a:latin typeface="Arial"/>
                <a:cs typeface="Arial"/>
              </a:rPr>
              <a:t>Analysis</a:t>
            </a:r>
            <a:r>
              <a:rPr dirty="0" sz="2000" spc="265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dirty="0" sz="2000" spc="75">
                <a:solidFill>
                  <a:srgbClr val="585858"/>
                </a:solidFill>
                <a:latin typeface="Arial"/>
                <a:cs typeface="Arial"/>
              </a:rPr>
              <a:t>Is</a:t>
            </a:r>
            <a:r>
              <a:rPr dirty="0" sz="2000" spc="26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dirty="0" sz="2000" spc="140">
                <a:solidFill>
                  <a:srgbClr val="585858"/>
                </a:solidFill>
                <a:latin typeface="Arial"/>
                <a:cs typeface="Arial"/>
              </a:rPr>
              <a:t>Time-</a:t>
            </a:r>
            <a:r>
              <a:rPr dirty="0" sz="2000" spc="114">
                <a:solidFill>
                  <a:srgbClr val="585858"/>
                </a:solidFill>
                <a:latin typeface="Arial"/>
                <a:cs typeface="Arial"/>
              </a:rPr>
              <a:t>Consuming</a:t>
            </a:r>
            <a:endParaRPr sz="2000">
              <a:latin typeface="Arial"/>
              <a:cs typeface="Arial"/>
            </a:endParaRPr>
          </a:p>
          <a:p>
            <a:pPr marL="240665" indent="-227965">
              <a:lnSpc>
                <a:spcPct val="100000"/>
              </a:lnSpc>
              <a:spcBef>
                <a:spcPts val="1730"/>
              </a:spcBef>
              <a:buChar char="•"/>
              <a:tabLst>
                <a:tab pos="240665" algn="l"/>
              </a:tabLst>
            </a:pPr>
            <a:r>
              <a:rPr dirty="0" sz="2000" spc="130">
                <a:solidFill>
                  <a:srgbClr val="585858"/>
                </a:solidFill>
                <a:latin typeface="Arial"/>
                <a:cs typeface="Arial"/>
              </a:rPr>
              <a:t>Refactoring</a:t>
            </a:r>
            <a:r>
              <a:rPr dirty="0" sz="2000" spc="27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dirty="0" sz="2000" spc="125">
                <a:solidFill>
                  <a:srgbClr val="585858"/>
                </a:solidFill>
                <a:latin typeface="Arial"/>
                <a:cs typeface="Arial"/>
              </a:rPr>
              <a:t>Requires</a:t>
            </a:r>
            <a:r>
              <a:rPr dirty="0" sz="2000" spc="265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dirty="0" sz="2000" spc="130">
                <a:solidFill>
                  <a:srgbClr val="585858"/>
                </a:solidFill>
                <a:latin typeface="Arial"/>
                <a:cs typeface="Arial"/>
              </a:rPr>
              <a:t>Developer</a:t>
            </a:r>
            <a:r>
              <a:rPr dirty="0" sz="2000" spc="265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dirty="0" sz="2000" spc="105">
                <a:solidFill>
                  <a:srgbClr val="585858"/>
                </a:solidFill>
                <a:latin typeface="Arial"/>
                <a:cs typeface="Arial"/>
              </a:rPr>
              <a:t>Effort</a:t>
            </a:r>
            <a:endParaRPr sz="2000">
              <a:latin typeface="Arial"/>
              <a:cs typeface="Arial"/>
            </a:endParaRPr>
          </a:p>
          <a:p>
            <a:pPr marL="240665" indent="-227965">
              <a:lnSpc>
                <a:spcPct val="100000"/>
              </a:lnSpc>
              <a:spcBef>
                <a:spcPts val="1714"/>
              </a:spcBef>
              <a:buChar char="•"/>
              <a:tabLst>
                <a:tab pos="240665" algn="l"/>
              </a:tabLst>
            </a:pPr>
            <a:r>
              <a:rPr dirty="0" sz="2000" spc="95">
                <a:solidFill>
                  <a:srgbClr val="585858"/>
                </a:solidFill>
                <a:latin typeface="Arial"/>
                <a:cs typeface="Arial"/>
              </a:rPr>
              <a:t>Testing</a:t>
            </a:r>
            <a:r>
              <a:rPr dirty="0" sz="2000" spc="25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dirty="0" sz="2000" spc="125">
                <a:solidFill>
                  <a:srgbClr val="585858"/>
                </a:solidFill>
                <a:latin typeface="Arial"/>
                <a:cs typeface="Arial"/>
              </a:rPr>
              <a:t>Remains</a:t>
            </a:r>
            <a:r>
              <a:rPr dirty="0" sz="2000" spc="254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585858"/>
                </a:solidFill>
                <a:latin typeface="Arial"/>
                <a:cs typeface="Arial"/>
              </a:rPr>
              <a:t>a</a:t>
            </a:r>
            <a:r>
              <a:rPr dirty="0" sz="2000" spc="295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dirty="0" sz="2000" spc="125">
                <a:solidFill>
                  <a:srgbClr val="585858"/>
                </a:solidFill>
                <a:latin typeface="Arial"/>
                <a:cs typeface="Arial"/>
              </a:rPr>
              <a:t>Separate</a:t>
            </a:r>
            <a:r>
              <a:rPr dirty="0" sz="2000" spc="215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dirty="0" sz="2000" spc="40">
                <a:solidFill>
                  <a:srgbClr val="585858"/>
                </a:solidFill>
                <a:latin typeface="Arial"/>
                <a:cs typeface="Arial"/>
              </a:rPr>
              <a:t>Task</a:t>
            </a:r>
            <a:endParaRPr sz="2000">
              <a:latin typeface="Arial"/>
              <a:cs typeface="Arial"/>
            </a:endParaRPr>
          </a:p>
          <a:p>
            <a:pPr marL="240665" indent="-227965">
              <a:lnSpc>
                <a:spcPct val="100000"/>
              </a:lnSpc>
              <a:spcBef>
                <a:spcPts val="1720"/>
              </a:spcBef>
              <a:buChar char="•"/>
              <a:tabLst>
                <a:tab pos="240665" algn="l"/>
              </a:tabLst>
            </a:pPr>
            <a:r>
              <a:rPr dirty="0" sz="2000" spc="110">
                <a:solidFill>
                  <a:srgbClr val="585858"/>
                </a:solidFill>
                <a:latin typeface="Arial"/>
                <a:cs typeface="Arial"/>
              </a:rPr>
              <a:t>Need</a:t>
            </a:r>
            <a:r>
              <a:rPr dirty="0" sz="2000" spc="28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dirty="0" sz="2000" spc="130">
                <a:solidFill>
                  <a:srgbClr val="585858"/>
                </a:solidFill>
                <a:latin typeface="Arial"/>
                <a:cs typeface="Arial"/>
              </a:rPr>
              <a:t>Integrated</a:t>
            </a:r>
            <a:r>
              <a:rPr dirty="0" sz="2000" spc="28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dirty="0" sz="2000" spc="150">
                <a:solidFill>
                  <a:srgbClr val="585858"/>
                </a:solidFill>
                <a:latin typeface="Arial"/>
                <a:cs typeface="Arial"/>
              </a:rPr>
              <a:t>Multi-</a:t>
            </a:r>
            <a:r>
              <a:rPr dirty="0" sz="2000" spc="110">
                <a:solidFill>
                  <a:srgbClr val="585858"/>
                </a:solidFill>
                <a:latin typeface="Arial"/>
                <a:cs typeface="Arial"/>
              </a:rPr>
              <a:t>Agent</a:t>
            </a:r>
            <a:r>
              <a:rPr dirty="0" sz="2000" spc="28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dirty="0" sz="2000" spc="110">
                <a:solidFill>
                  <a:srgbClr val="585858"/>
                </a:solidFill>
                <a:latin typeface="Arial"/>
                <a:cs typeface="Arial"/>
              </a:rPr>
              <a:t>Workflow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94665" rIns="0" bIns="0" rtlCol="0" vert="horz">
            <a:spAutoFit/>
          </a:bodyPr>
          <a:lstStyle/>
          <a:p>
            <a:pPr marL="3902075">
              <a:lnSpc>
                <a:spcPct val="100000"/>
              </a:lnSpc>
              <a:spcBef>
                <a:spcPts val="105"/>
              </a:spcBef>
            </a:pPr>
            <a:r>
              <a:rPr dirty="0" spc="245"/>
              <a:t>ABSTRACT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69238" y="1475996"/>
            <a:ext cx="9770110" cy="398970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30000"/>
              </a:lnSpc>
              <a:spcBef>
                <a:spcPts val="100"/>
              </a:spcBef>
            </a:pPr>
            <a:r>
              <a:rPr dirty="0" sz="2000" spc="105">
                <a:solidFill>
                  <a:srgbClr val="585858"/>
                </a:solidFill>
                <a:latin typeface="Times New Roman"/>
                <a:cs typeface="Times New Roman"/>
              </a:rPr>
              <a:t>This</a:t>
            </a:r>
            <a:r>
              <a:rPr dirty="0" sz="2000" spc="385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2000" spc="120">
                <a:solidFill>
                  <a:srgbClr val="585858"/>
                </a:solidFill>
                <a:latin typeface="Times New Roman"/>
                <a:cs typeface="Times New Roman"/>
              </a:rPr>
              <a:t>project</a:t>
            </a:r>
            <a:r>
              <a:rPr dirty="0" sz="2000" spc="395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2000" spc="125">
                <a:solidFill>
                  <a:srgbClr val="585858"/>
                </a:solidFill>
                <a:latin typeface="Times New Roman"/>
                <a:cs typeface="Times New Roman"/>
              </a:rPr>
              <a:t>proposes</a:t>
            </a:r>
            <a:r>
              <a:rPr dirty="0" sz="2000" spc="405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85858"/>
                </a:solidFill>
                <a:latin typeface="Times New Roman"/>
                <a:cs typeface="Times New Roman"/>
              </a:rPr>
              <a:t>a</a:t>
            </a:r>
            <a:r>
              <a:rPr dirty="0" sz="2000" spc="375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2000" spc="140">
                <a:solidFill>
                  <a:srgbClr val="585858"/>
                </a:solidFill>
                <a:latin typeface="Times New Roman"/>
                <a:cs typeface="Times New Roman"/>
              </a:rPr>
              <a:t>Multi-</a:t>
            </a:r>
            <a:r>
              <a:rPr dirty="0" sz="2000" spc="110">
                <a:solidFill>
                  <a:srgbClr val="585858"/>
                </a:solidFill>
                <a:latin typeface="Times New Roman"/>
                <a:cs typeface="Times New Roman"/>
              </a:rPr>
              <a:t>Agent</a:t>
            </a:r>
            <a:r>
              <a:rPr dirty="0" sz="2000" spc="40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2000" spc="105">
                <a:solidFill>
                  <a:srgbClr val="585858"/>
                </a:solidFill>
                <a:latin typeface="Times New Roman"/>
                <a:cs typeface="Times New Roman"/>
              </a:rPr>
              <a:t>Code</a:t>
            </a:r>
            <a:r>
              <a:rPr dirty="0" sz="2000" spc="39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2000" spc="114">
                <a:solidFill>
                  <a:srgbClr val="585858"/>
                </a:solidFill>
                <a:latin typeface="Times New Roman"/>
                <a:cs typeface="Times New Roman"/>
              </a:rPr>
              <a:t>Review</a:t>
            </a:r>
            <a:r>
              <a:rPr dirty="0" sz="2000" spc="395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2000" spc="90">
                <a:solidFill>
                  <a:srgbClr val="585858"/>
                </a:solidFill>
                <a:latin typeface="Times New Roman"/>
                <a:cs typeface="Times New Roman"/>
              </a:rPr>
              <a:t>and</a:t>
            </a:r>
            <a:r>
              <a:rPr dirty="0" sz="2000" spc="409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2000" spc="125">
                <a:solidFill>
                  <a:srgbClr val="585858"/>
                </a:solidFill>
                <a:latin typeface="Times New Roman"/>
                <a:cs typeface="Times New Roman"/>
              </a:rPr>
              <a:t>Refactoring</a:t>
            </a:r>
            <a:r>
              <a:rPr dirty="0" sz="2000" spc="42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2000" spc="125">
                <a:solidFill>
                  <a:srgbClr val="585858"/>
                </a:solidFill>
                <a:latin typeface="Times New Roman"/>
                <a:cs typeface="Times New Roman"/>
              </a:rPr>
              <a:t>Assistant,</a:t>
            </a:r>
            <a:r>
              <a:rPr dirty="0" sz="2000" spc="405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2000" spc="114">
                <a:solidFill>
                  <a:srgbClr val="585858"/>
                </a:solidFill>
                <a:latin typeface="Times New Roman"/>
                <a:cs typeface="Times New Roman"/>
              </a:rPr>
              <a:t>an </a:t>
            </a:r>
            <a:r>
              <a:rPr dirty="0" sz="2000" spc="145">
                <a:solidFill>
                  <a:srgbClr val="585858"/>
                </a:solidFill>
                <a:latin typeface="Times New Roman"/>
                <a:cs typeface="Times New Roman"/>
              </a:rPr>
              <a:t>AI-</a:t>
            </a:r>
            <a:r>
              <a:rPr dirty="0" sz="2000" spc="120">
                <a:solidFill>
                  <a:srgbClr val="585858"/>
                </a:solidFill>
                <a:latin typeface="Times New Roman"/>
                <a:cs typeface="Times New Roman"/>
              </a:rPr>
              <a:t>powered</a:t>
            </a:r>
            <a:r>
              <a:rPr dirty="0" sz="2000" spc="475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2000" spc="120">
                <a:solidFill>
                  <a:srgbClr val="585858"/>
                </a:solidFill>
                <a:latin typeface="Times New Roman"/>
                <a:cs typeface="Times New Roman"/>
              </a:rPr>
              <a:t>system</a:t>
            </a:r>
            <a:r>
              <a:rPr dirty="0" sz="2000" spc="445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2000" spc="110">
                <a:solidFill>
                  <a:srgbClr val="585858"/>
                </a:solidFill>
                <a:latin typeface="Times New Roman"/>
                <a:cs typeface="Times New Roman"/>
              </a:rPr>
              <a:t>that</a:t>
            </a:r>
            <a:r>
              <a:rPr dirty="0" sz="2000" spc="465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2000" spc="125">
                <a:solidFill>
                  <a:srgbClr val="585858"/>
                </a:solidFill>
                <a:latin typeface="Times New Roman"/>
                <a:cs typeface="Times New Roman"/>
              </a:rPr>
              <a:t>automates</a:t>
            </a:r>
            <a:r>
              <a:rPr dirty="0" sz="2000" spc="475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2000" spc="105">
                <a:solidFill>
                  <a:srgbClr val="585858"/>
                </a:solidFill>
                <a:latin typeface="Times New Roman"/>
                <a:cs typeface="Times New Roman"/>
              </a:rPr>
              <a:t>code</a:t>
            </a:r>
            <a:r>
              <a:rPr dirty="0" sz="2000" spc="465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2000" spc="100">
                <a:solidFill>
                  <a:srgbClr val="585858"/>
                </a:solidFill>
                <a:latin typeface="Times New Roman"/>
                <a:cs typeface="Times New Roman"/>
              </a:rPr>
              <a:t>review,</a:t>
            </a:r>
            <a:r>
              <a:rPr dirty="0" sz="2000" spc="475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2000" spc="130">
                <a:solidFill>
                  <a:srgbClr val="585858"/>
                </a:solidFill>
                <a:latin typeface="Times New Roman"/>
                <a:cs typeface="Times New Roman"/>
              </a:rPr>
              <a:t>refactoring,</a:t>
            </a:r>
            <a:r>
              <a:rPr dirty="0" sz="2000" spc="475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2000" spc="95">
                <a:solidFill>
                  <a:srgbClr val="585858"/>
                </a:solidFill>
                <a:latin typeface="Times New Roman"/>
                <a:cs typeface="Times New Roman"/>
              </a:rPr>
              <a:t>and</a:t>
            </a:r>
            <a:r>
              <a:rPr dirty="0" sz="2000" spc="465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2000" spc="105">
                <a:solidFill>
                  <a:srgbClr val="585858"/>
                </a:solidFill>
                <a:latin typeface="Times New Roman"/>
                <a:cs typeface="Times New Roman"/>
              </a:rPr>
              <a:t>test</a:t>
            </a:r>
            <a:r>
              <a:rPr dirty="0" sz="2000" spc="459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2000" spc="114">
                <a:solidFill>
                  <a:srgbClr val="585858"/>
                </a:solidFill>
                <a:latin typeface="Times New Roman"/>
                <a:cs typeface="Times New Roman"/>
              </a:rPr>
              <a:t>generation </a:t>
            </a:r>
            <a:r>
              <a:rPr dirty="0" sz="2000" spc="110">
                <a:solidFill>
                  <a:srgbClr val="585858"/>
                </a:solidFill>
                <a:latin typeface="Times New Roman"/>
                <a:cs typeface="Times New Roman"/>
              </a:rPr>
              <a:t>using</a:t>
            </a:r>
            <a:r>
              <a:rPr dirty="0" sz="2000" spc="315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2000" spc="130">
                <a:solidFill>
                  <a:srgbClr val="585858"/>
                </a:solidFill>
                <a:latin typeface="Times New Roman"/>
                <a:cs typeface="Times New Roman"/>
              </a:rPr>
              <a:t>specialized</a:t>
            </a:r>
            <a:r>
              <a:rPr dirty="0" sz="2000" spc="325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2000" spc="130">
                <a:solidFill>
                  <a:srgbClr val="585858"/>
                </a:solidFill>
                <a:latin typeface="Times New Roman"/>
                <a:cs typeface="Times New Roman"/>
              </a:rPr>
              <a:t>intelligent</a:t>
            </a:r>
            <a:r>
              <a:rPr dirty="0" sz="2000" spc="32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2000" spc="125">
                <a:solidFill>
                  <a:srgbClr val="585858"/>
                </a:solidFill>
                <a:latin typeface="Times New Roman"/>
                <a:cs typeface="Times New Roman"/>
              </a:rPr>
              <a:t>agents.</a:t>
            </a:r>
            <a:r>
              <a:rPr dirty="0" sz="2000" spc="29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85858"/>
                </a:solidFill>
                <a:latin typeface="Times New Roman"/>
                <a:cs typeface="Times New Roman"/>
              </a:rPr>
              <a:t>A</a:t>
            </a:r>
            <a:r>
              <a:rPr dirty="0" sz="2000" spc="21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2000" spc="100">
                <a:solidFill>
                  <a:srgbClr val="585858"/>
                </a:solidFill>
                <a:latin typeface="Times New Roman"/>
                <a:cs typeface="Times New Roman"/>
              </a:rPr>
              <a:t>Code</a:t>
            </a:r>
            <a:r>
              <a:rPr dirty="0" sz="2000" spc="32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2000" spc="120">
                <a:solidFill>
                  <a:srgbClr val="585858"/>
                </a:solidFill>
                <a:latin typeface="Times New Roman"/>
                <a:cs typeface="Times New Roman"/>
              </a:rPr>
              <a:t>Reviewer</a:t>
            </a:r>
            <a:r>
              <a:rPr dirty="0" sz="2000" spc="305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2000" spc="110">
                <a:solidFill>
                  <a:srgbClr val="585858"/>
                </a:solidFill>
                <a:latin typeface="Times New Roman"/>
                <a:cs typeface="Times New Roman"/>
              </a:rPr>
              <a:t>Agent</a:t>
            </a:r>
            <a:r>
              <a:rPr dirty="0" sz="2000" spc="31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2000" spc="120">
                <a:solidFill>
                  <a:srgbClr val="585858"/>
                </a:solidFill>
                <a:latin typeface="Times New Roman"/>
                <a:cs typeface="Times New Roman"/>
              </a:rPr>
              <a:t>detects</a:t>
            </a:r>
            <a:r>
              <a:rPr dirty="0" sz="2000" spc="315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2000" spc="105">
                <a:solidFill>
                  <a:srgbClr val="585858"/>
                </a:solidFill>
                <a:latin typeface="Times New Roman"/>
                <a:cs typeface="Times New Roman"/>
              </a:rPr>
              <a:t>code</a:t>
            </a:r>
            <a:r>
              <a:rPr dirty="0" sz="2000" spc="305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2000" spc="110">
                <a:solidFill>
                  <a:srgbClr val="585858"/>
                </a:solidFill>
                <a:latin typeface="Times New Roman"/>
                <a:cs typeface="Times New Roman"/>
              </a:rPr>
              <a:t>quality </a:t>
            </a:r>
            <a:r>
              <a:rPr dirty="0" sz="2000" spc="120">
                <a:solidFill>
                  <a:srgbClr val="585858"/>
                </a:solidFill>
                <a:latin typeface="Times New Roman"/>
                <a:cs typeface="Times New Roman"/>
              </a:rPr>
              <a:t>issues,</a:t>
            </a:r>
            <a:r>
              <a:rPr dirty="0" sz="2000" spc="10">
                <a:solidFill>
                  <a:srgbClr val="585858"/>
                </a:solidFill>
                <a:latin typeface="Times New Roman"/>
                <a:cs typeface="Times New Roman"/>
              </a:rPr>
              <a:t>  </a:t>
            </a:r>
            <a:r>
              <a:rPr dirty="0" sz="2000" spc="120">
                <a:solidFill>
                  <a:srgbClr val="585858"/>
                </a:solidFill>
                <a:latin typeface="Times New Roman"/>
                <a:cs typeface="Times New Roman"/>
              </a:rPr>
              <a:t>security</a:t>
            </a:r>
            <a:r>
              <a:rPr dirty="0" sz="2000" spc="5">
                <a:solidFill>
                  <a:srgbClr val="585858"/>
                </a:solidFill>
                <a:latin typeface="Times New Roman"/>
                <a:cs typeface="Times New Roman"/>
              </a:rPr>
              <a:t>  </a:t>
            </a:r>
            <a:r>
              <a:rPr dirty="0" sz="2000" spc="130">
                <a:solidFill>
                  <a:srgbClr val="585858"/>
                </a:solidFill>
                <a:latin typeface="Times New Roman"/>
                <a:cs typeface="Times New Roman"/>
              </a:rPr>
              <a:t>vulnerabilities,</a:t>
            </a:r>
            <a:r>
              <a:rPr dirty="0" sz="2000" spc="20">
                <a:solidFill>
                  <a:srgbClr val="585858"/>
                </a:solidFill>
                <a:latin typeface="Times New Roman"/>
                <a:cs typeface="Times New Roman"/>
              </a:rPr>
              <a:t>  </a:t>
            </a:r>
            <a:r>
              <a:rPr dirty="0" sz="2000" spc="95">
                <a:solidFill>
                  <a:srgbClr val="585858"/>
                </a:solidFill>
                <a:latin typeface="Times New Roman"/>
                <a:cs typeface="Times New Roman"/>
              </a:rPr>
              <a:t>and</a:t>
            </a:r>
            <a:r>
              <a:rPr dirty="0" sz="2000" spc="5">
                <a:solidFill>
                  <a:srgbClr val="585858"/>
                </a:solidFill>
                <a:latin typeface="Times New Roman"/>
                <a:cs typeface="Times New Roman"/>
              </a:rPr>
              <a:t>  </a:t>
            </a:r>
            <a:r>
              <a:rPr dirty="0" sz="2000" spc="125">
                <a:solidFill>
                  <a:srgbClr val="585858"/>
                </a:solidFill>
                <a:latin typeface="Times New Roman"/>
                <a:cs typeface="Times New Roman"/>
              </a:rPr>
              <a:t>complexity</a:t>
            </a:r>
            <a:r>
              <a:rPr dirty="0" sz="2000" spc="15">
                <a:solidFill>
                  <a:srgbClr val="585858"/>
                </a:solidFill>
                <a:latin typeface="Times New Roman"/>
                <a:cs typeface="Times New Roman"/>
              </a:rPr>
              <a:t>  </a:t>
            </a:r>
            <a:r>
              <a:rPr dirty="0" sz="2000" spc="125">
                <a:solidFill>
                  <a:srgbClr val="585858"/>
                </a:solidFill>
                <a:latin typeface="Times New Roman"/>
                <a:cs typeface="Times New Roman"/>
              </a:rPr>
              <a:t>problems</a:t>
            </a:r>
            <a:r>
              <a:rPr dirty="0" sz="2000" spc="5">
                <a:solidFill>
                  <a:srgbClr val="585858"/>
                </a:solidFill>
                <a:latin typeface="Times New Roman"/>
                <a:cs typeface="Times New Roman"/>
              </a:rPr>
              <a:t>  </a:t>
            </a:r>
            <a:r>
              <a:rPr dirty="0" sz="2000" spc="110">
                <a:solidFill>
                  <a:srgbClr val="585858"/>
                </a:solidFill>
                <a:latin typeface="Times New Roman"/>
                <a:cs typeface="Times New Roman"/>
              </a:rPr>
              <a:t>using</a:t>
            </a:r>
            <a:r>
              <a:rPr dirty="0" sz="2000" spc="10">
                <a:solidFill>
                  <a:srgbClr val="585858"/>
                </a:solidFill>
                <a:latin typeface="Times New Roman"/>
                <a:cs typeface="Times New Roman"/>
              </a:rPr>
              <a:t>  </a:t>
            </a:r>
            <a:r>
              <a:rPr dirty="0" sz="2000" spc="100">
                <a:solidFill>
                  <a:srgbClr val="585858"/>
                </a:solidFill>
                <a:latin typeface="Times New Roman"/>
                <a:cs typeface="Times New Roman"/>
              </a:rPr>
              <a:t>LLMs</a:t>
            </a:r>
            <a:r>
              <a:rPr dirty="0" sz="2000" spc="5">
                <a:solidFill>
                  <a:srgbClr val="585858"/>
                </a:solidFill>
                <a:latin typeface="Times New Roman"/>
                <a:cs typeface="Times New Roman"/>
              </a:rPr>
              <a:t>  </a:t>
            </a:r>
            <a:r>
              <a:rPr dirty="0" sz="2000" spc="95">
                <a:solidFill>
                  <a:srgbClr val="585858"/>
                </a:solidFill>
                <a:latin typeface="Times New Roman"/>
                <a:cs typeface="Times New Roman"/>
              </a:rPr>
              <a:t>and</a:t>
            </a:r>
            <a:r>
              <a:rPr dirty="0" sz="2000" spc="5">
                <a:solidFill>
                  <a:srgbClr val="585858"/>
                </a:solidFill>
                <a:latin typeface="Times New Roman"/>
                <a:cs typeface="Times New Roman"/>
              </a:rPr>
              <a:t>  </a:t>
            </a:r>
            <a:r>
              <a:rPr dirty="0" sz="2000" spc="100">
                <a:solidFill>
                  <a:srgbClr val="585858"/>
                </a:solidFill>
                <a:latin typeface="Times New Roman"/>
                <a:cs typeface="Times New Roman"/>
              </a:rPr>
              <a:t>tools </a:t>
            </a:r>
            <a:r>
              <a:rPr dirty="0" sz="2000" spc="105">
                <a:solidFill>
                  <a:srgbClr val="585858"/>
                </a:solidFill>
                <a:latin typeface="Times New Roman"/>
                <a:cs typeface="Times New Roman"/>
              </a:rPr>
              <a:t>such</a:t>
            </a:r>
            <a:r>
              <a:rPr dirty="0" sz="2000" spc="265">
                <a:solidFill>
                  <a:srgbClr val="585858"/>
                </a:solidFill>
                <a:latin typeface="Times New Roman"/>
                <a:cs typeface="Times New Roman"/>
              </a:rPr>
              <a:t>   </a:t>
            </a:r>
            <a:r>
              <a:rPr dirty="0" sz="2000" spc="70">
                <a:solidFill>
                  <a:srgbClr val="585858"/>
                </a:solidFill>
                <a:latin typeface="Times New Roman"/>
                <a:cs typeface="Times New Roman"/>
              </a:rPr>
              <a:t>as</a:t>
            </a:r>
            <a:r>
              <a:rPr dirty="0" sz="2000" spc="260">
                <a:solidFill>
                  <a:srgbClr val="585858"/>
                </a:solidFill>
                <a:latin typeface="Times New Roman"/>
                <a:cs typeface="Times New Roman"/>
              </a:rPr>
              <a:t>   </a:t>
            </a:r>
            <a:r>
              <a:rPr dirty="0" sz="2000" spc="120">
                <a:solidFill>
                  <a:srgbClr val="585858"/>
                </a:solidFill>
                <a:latin typeface="Times New Roman"/>
                <a:cs typeface="Times New Roman"/>
              </a:rPr>
              <a:t>Pylint</a:t>
            </a:r>
            <a:r>
              <a:rPr dirty="0" sz="2000" spc="260">
                <a:solidFill>
                  <a:srgbClr val="585858"/>
                </a:solidFill>
                <a:latin typeface="Times New Roman"/>
                <a:cs typeface="Times New Roman"/>
              </a:rPr>
              <a:t>   </a:t>
            </a:r>
            <a:r>
              <a:rPr dirty="0" sz="2000" spc="90">
                <a:solidFill>
                  <a:srgbClr val="585858"/>
                </a:solidFill>
                <a:latin typeface="Times New Roman"/>
                <a:cs typeface="Times New Roman"/>
              </a:rPr>
              <a:t>and</a:t>
            </a:r>
            <a:r>
              <a:rPr dirty="0" sz="2000" spc="265">
                <a:solidFill>
                  <a:srgbClr val="585858"/>
                </a:solidFill>
                <a:latin typeface="Times New Roman"/>
                <a:cs typeface="Times New Roman"/>
              </a:rPr>
              <a:t>   </a:t>
            </a:r>
            <a:r>
              <a:rPr dirty="0" sz="2000" spc="120">
                <a:solidFill>
                  <a:srgbClr val="585858"/>
                </a:solidFill>
                <a:latin typeface="Times New Roman"/>
                <a:cs typeface="Times New Roman"/>
              </a:rPr>
              <a:t>Bandit.</a:t>
            </a:r>
            <a:r>
              <a:rPr dirty="0" sz="2000" spc="260">
                <a:solidFill>
                  <a:srgbClr val="585858"/>
                </a:solidFill>
                <a:latin typeface="Times New Roman"/>
                <a:cs typeface="Times New Roman"/>
              </a:rPr>
              <a:t>   </a:t>
            </a:r>
            <a:r>
              <a:rPr dirty="0" sz="2000">
                <a:solidFill>
                  <a:srgbClr val="585858"/>
                </a:solidFill>
                <a:latin typeface="Times New Roman"/>
                <a:cs typeface="Times New Roman"/>
              </a:rPr>
              <a:t>A</a:t>
            </a:r>
            <a:r>
              <a:rPr dirty="0" sz="2000" spc="229">
                <a:solidFill>
                  <a:srgbClr val="585858"/>
                </a:solidFill>
                <a:latin typeface="Times New Roman"/>
                <a:cs typeface="Times New Roman"/>
              </a:rPr>
              <a:t>   </a:t>
            </a:r>
            <a:r>
              <a:rPr dirty="0" sz="2000" spc="125">
                <a:solidFill>
                  <a:srgbClr val="585858"/>
                </a:solidFill>
                <a:latin typeface="Times New Roman"/>
                <a:cs typeface="Times New Roman"/>
              </a:rPr>
              <a:t>Refactoring</a:t>
            </a:r>
            <a:r>
              <a:rPr dirty="0" sz="2000" spc="265">
                <a:solidFill>
                  <a:srgbClr val="585858"/>
                </a:solidFill>
                <a:latin typeface="Times New Roman"/>
                <a:cs typeface="Times New Roman"/>
              </a:rPr>
              <a:t>   </a:t>
            </a:r>
            <a:r>
              <a:rPr dirty="0" sz="2000" spc="110">
                <a:solidFill>
                  <a:srgbClr val="585858"/>
                </a:solidFill>
                <a:latin typeface="Times New Roman"/>
                <a:cs typeface="Times New Roman"/>
              </a:rPr>
              <a:t>Agent</a:t>
            </a:r>
            <a:r>
              <a:rPr dirty="0" sz="2000" spc="265">
                <a:solidFill>
                  <a:srgbClr val="585858"/>
                </a:solidFill>
                <a:latin typeface="Times New Roman"/>
                <a:cs typeface="Times New Roman"/>
              </a:rPr>
              <a:t>   </a:t>
            </a:r>
            <a:r>
              <a:rPr dirty="0" sz="2000" spc="120">
                <a:solidFill>
                  <a:srgbClr val="585858"/>
                </a:solidFill>
                <a:latin typeface="Times New Roman"/>
                <a:cs typeface="Times New Roman"/>
              </a:rPr>
              <a:t>suggests</a:t>
            </a:r>
            <a:r>
              <a:rPr dirty="0" sz="2000" spc="265">
                <a:solidFill>
                  <a:srgbClr val="585858"/>
                </a:solidFill>
                <a:latin typeface="Times New Roman"/>
                <a:cs typeface="Times New Roman"/>
              </a:rPr>
              <a:t>   </a:t>
            </a:r>
            <a:r>
              <a:rPr dirty="0" sz="2000" spc="114">
                <a:solidFill>
                  <a:srgbClr val="585858"/>
                </a:solidFill>
                <a:latin typeface="Times New Roman"/>
                <a:cs typeface="Times New Roman"/>
              </a:rPr>
              <a:t>optimized </a:t>
            </a:r>
            <a:r>
              <a:rPr dirty="0" sz="2000" spc="130">
                <a:solidFill>
                  <a:srgbClr val="585858"/>
                </a:solidFill>
                <a:latin typeface="Times New Roman"/>
                <a:cs typeface="Times New Roman"/>
              </a:rPr>
              <a:t>improvements,</a:t>
            </a:r>
            <a:r>
              <a:rPr dirty="0" sz="2000" spc="40">
                <a:solidFill>
                  <a:srgbClr val="585858"/>
                </a:solidFill>
                <a:latin typeface="Times New Roman"/>
                <a:cs typeface="Times New Roman"/>
              </a:rPr>
              <a:t>  </a:t>
            </a:r>
            <a:r>
              <a:rPr dirty="0" sz="2000" spc="110">
                <a:solidFill>
                  <a:srgbClr val="585858"/>
                </a:solidFill>
                <a:latin typeface="Times New Roman"/>
                <a:cs typeface="Times New Roman"/>
              </a:rPr>
              <a:t>while</a:t>
            </a:r>
            <a:r>
              <a:rPr dirty="0" sz="2000" spc="35">
                <a:solidFill>
                  <a:srgbClr val="585858"/>
                </a:solidFill>
                <a:latin typeface="Times New Roman"/>
                <a:cs typeface="Times New Roman"/>
              </a:rPr>
              <a:t>  </a:t>
            </a:r>
            <a:r>
              <a:rPr dirty="0" sz="2000">
                <a:solidFill>
                  <a:srgbClr val="585858"/>
                </a:solidFill>
                <a:latin typeface="Times New Roman"/>
                <a:cs typeface="Times New Roman"/>
              </a:rPr>
              <a:t>a</a:t>
            </a:r>
            <a:r>
              <a:rPr dirty="0" sz="2000" spc="25">
                <a:solidFill>
                  <a:srgbClr val="585858"/>
                </a:solidFill>
                <a:latin typeface="Times New Roman"/>
                <a:cs typeface="Times New Roman"/>
              </a:rPr>
              <a:t>  </a:t>
            </a:r>
            <a:r>
              <a:rPr dirty="0" sz="2000" spc="70">
                <a:solidFill>
                  <a:srgbClr val="585858"/>
                </a:solidFill>
                <a:latin typeface="Times New Roman"/>
                <a:cs typeface="Times New Roman"/>
              </a:rPr>
              <a:t>Test</a:t>
            </a:r>
            <a:r>
              <a:rPr dirty="0" sz="2000" spc="30">
                <a:solidFill>
                  <a:srgbClr val="585858"/>
                </a:solidFill>
                <a:latin typeface="Times New Roman"/>
                <a:cs typeface="Times New Roman"/>
              </a:rPr>
              <a:t>  </a:t>
            </a:r>
            <a:r>
              <a:rPr dirty="0" sz="2000" spc="125">
                <a:solidFill>
                  <a:srgbClr val="585858"/>
                </a:solidFill>
                <a:latin typeface="Times New Roman"/>
                <a:cs typeface="Times New Roman"/>
              </a:rPr>
              <a:t>Generation</a:t>
            </a:r>
            <a:r>
              <a:rPr dirty="0" sz="2000" spc="40">
                <a:solidFill>
                  <a:srgbClr val="585858"/>
                </a:solidFill>
                <a:latin typeface="Times New Roman"/>
                <a:cs typeface="Times New Roman"/>
              </a:rPr>
              <a:t>  </a:t>
            </a:r>
            <a:r>
              <a:rPr dirty="0" sz="2000" spc="114">
                <a:solidFill>
                  <a:srgbClr val="585858"/>
                </a:solidFill>
                <a:latin typeface="Times New Roman"/>
                <a:cs typeface="Times New Roman"/>
              </a:rPr>
              <a:t>Agent</a:t>
            </a:r>
            <a:r>
              <a:rPr dirty="0" sz="2000" spc="30">
                <a:solidFill>
                  <a:srgbClr val="585858"/>
                </a:solidFill>
                <a:latin typeface="Times New Roman"/>
                <a:cs typeface="Times New Roman"/>
              </a:rPr>
              <a:t>  </a:t>
            </a:r>
            <a:r>
              <a:rPr dirty="0" sz="2000" spc="120">
                <a:solidFill>
                  <a:srgbClr val="585858"/>
                </a:solidFill>
                <a:latin typeface="Times New Roman"/>
                <a:cs typeface="Times New Roman"/>
              </a:rPr>
              <a:t>creates</a:t>
            </a:r>
            <a:r>
              <a:rPr dirty="0" sz="2000" spc="35">
                <a:solidFill>
                  <a:srgbClr val="585858"/>
                </a:solidFill>
                <a:latin typeface="Times New Roman"/>
                <a:cs typeface="Times New Roman"/>
              </a:rPr>
              <a:t>  </a:t>
            </a:r>
            <a:r>
              <a:rPr dirty="0" sz="2000" spc="110">
                <a:solidFill>
                  <a:srgbClr val="585858"/>
                </a:solidFill>
                <a:latin typeface="Times New Roman"/>
                <a:cs typeface="Times New Roman"/>
              </a:rPr>
              <a:t>unit</a:t>
            </a:r>
            <a:r>
              <a:rPr dirty="0" sz="2000" spc="25">
                <a:solidFill>
                  <a:srgbClr val="585858"/>
                </a:solidFill>
                <a:latin typeface="Times New Roman"/>
                <a:cs typeface="Times New Roman"/>
              </a:rPr>
              <a:t>  </a:t>
            </a:r>
            <a:r>
              <a:rPr dirty="0" sz="2000" spc="110">
                <a:solidFill>
                  <a:srgbClr val="585858"/>
                </a:solidFill>
                <a:latin typeface="Times New Roman"/>
                <a:cs typeface="Times New Roman"/>
              </a:rPr>
              <a:t>tests</a:t>
            </a:r>
            <a:r>
              <a:rPr dirty="0" sz="2000" spc="35">
                <a:solidFill>
                  <a:srgbClr val="585858"/>
                </a:solidFill>
                <a:latin typeface="Times New Roman"/>
                <a:cs typeface="Times New Roman"/>
              </a:rPr>
              <a:t>  </a:t>
            </a:r>
            <a:r>
              <a:rPr dirty="0" sz="2000" spc="65">
                <a:solidFill>
                  <a:srgbClr val="585858"/>
                </a:solidFill>
                <a:latin typeface="Times New Roman"/>
                <a:cs typeface="Times New Roman"/>
              </a:rPr>
              <a:t>to</a:t>
            </a:r>
            <a:r>
              <a:rPr dirty="0" sz="2000" spc="30">
                <a:solidFill>
                  <a:srgbClr val="585858"/>
                </a:solidFill>
                <a:latin typeface="Times New Roman"/>
                <a:cs typeface="Times New Roman"/>
              </a:rPr>
              <a:t>  </a:t>
            </a:r>
            <a:r>
              <a:rPr dirty="0" sz="2000" spc="125">
                <a:solidFill>
                  <a:srgbClr val="585858"/>
                </a:solidFill>
                <a:latin typeface="Times New Roman"/>
                <a:cs typeface="Times New Roman"/>
              </a:rPr>
              <a:t>validate</a:t>
            </a:r>
            <a:r>
              <a:rPr dirty="0" sz="2000" spc="40">
                <a:solidFill>
                  <a:srgbClr val="585858"/>
                </a:solidFill>
                <a:latin typeface="Times New Roman"/>
                <a:cs typeface="Times New Roman"/>
              </a:rPr>
              <a:t>  </a:t>
            </a:r>
            <a:r>
              <a:rPr dirty="0" sz="2000" spc="70">
                <a:solidFill>
                  <a:srgbClr val="585858"/>
                </a:solidFill>
                <a:latin typeface="Times New Roman"/>
                <a:cs typeface="Times New Roman"/>
              </a:rPr>
              <a:t>the </a:t>
            </a:r>
            <a:r>
              <a:rPr dirty="0" sz="2000" spc="125">
                <a:solidFill>
                  <a:srgbClr val="585858"/>
                </a:solidFill>
                <a:latin typeface="Times New Roman"/>
                <a:cs typeface="Times New Roman"/>
              </a:rPr>
              <a:t>changes.</a:t>
            </a:r>
            <a:r>
              <a:rPr dirty="0" sz="2000" spc="355">
                <a:solidFill>
                  <a:srgbClr val="585858"/>
                </a:solidFill>
                <a:latin typeface="Times New Roman"/>
                <a:cs typeface="Times New Roman"/>
              </a:rPr>
              <a:t>  </a:t>
            </a:r>
            <a:r>
              <a:rPr dirty="0" sz="2000" spc="110">
                <a:solidFill>
                  <a:srgbClr val="585858"/>
                </a:solidFill>
                <a:latin typeface="Times New Roman"/>
                <a:cs typeface="Times New Roman"/>
              </a:rPr>
              <a:t>Using</a:t>
            </a:r>
            <a:r>
              <a:rPr dirty="0" sz="2000" spc="365">
                <a:solidFill>
                  <a:srgbClr val="585858"/>
                </a:solidFill>
                <a:latin typeface="Times New Roman"/>
                <a:cs typeface="Times New Roman"/>
              </a:rPr>
              <a:t>  </a:t>
            </a:r>
            <a:r>
              <a:rPr dirty="0" sz="2000" spc="125">
                <a:solidFill>
                  <a:srgbClr val="585858"/>
                </a:solidFill>
                <a:latin typeface="Times New Roman"/>
                <a:cs typeface="Times New Roman"/>
              </a:rPr>
              <a:t>LangGraph</a:t>
            </a:r>
            <a:r>
              <a:rPr dirty="0" sz="2000" spc="365">
                <a:solidFill>
                  <a:srgbClr val="585858"/>
                </a:solidFill>
                <a:latin typeface="Times New Roman"/>
                <a:cs typeface="Times New Roman"/>
              </a:rPr>
              <a:t>  </a:t>
            </a:r>
            <a:r>
              <a:rPr dirty="0" sz="2000" spc="75">
                <a:solidFill>
                  <a:srgbClr val="585858"/>
                </a:solidFill>
                <a:latin typeface="Times New Roman"/>
                <a:cs typeface="Times New Roman"/>
              </a:rPr>
              <a:t>or</a:t>
            </a:r>
            <a:r>
              <a:rPr dirty="0" sz="2000" spc="360">
                <a:solidFill>
                  <a:srgbClr val="585858"/>
                </a:solidFill>
                <a:latin typeface="Times New Roman"/>
                <a:cs typeface="Times New Roman"/>
              </a:rPr>
              <a:t>  </a:t>
            </a:r>
            <a:r>
              <a:rPr dirty="0" sz="2000" spc="110">
                <a:solidFill>
                  <a:srgbClr val="585858"/>
                </a:solidFill>
                <a:latin typeface="Times New Roman"/>
                <a:cs typeface="Times New Roman"/>
              </a:rPr>
              <a:t>CrewAI</a:t>
            </a:r>
            <a:r>
              <a:rPr dirty="0" sz="2000" spc="365">
                <a:solidFill>
                  <a:srgbClr val="585858"/>
                </a:solidFill>
                <a:latin typeface="Times New Roman"/>
                <a:cs typeface="Times New Roman"/>
              </a:rPr>
              <a:t>  </a:t>
            </a:r>
            <a:r>
              <a:rPr dirty="0" sz="2000" spc="90">
                <a:solidFill>
                  <a:srgbClr val="585858"/>
                </a:solidFill>
                <a:latin typeface="Times New Roman"/>
                <a:cs typeface="Times New Roman"/>
              </a:rPr>
              <a:t>for</a:t>
            </a:r>
            <a:r>
              <a:rPr dirty="0" sz="2000" spc="360">
                <a:solidFill>
                  <a:srgbClr val="585858"/>
                </a:solidFill>
                <a:latin typeface="Times New Roman"/>
                <a:cs typeface="Times New Roman"/>
              </a:rPr>
              <a:t>  </a:t>
            </a:r>
            <a:r>
              <a:rPr dirty="0" sz="2000" spc="114">
                <a:solidFill>
                  <a:srgbClr val="585858"/>
                </a:solidFill>
                <a:latin typeface="Times New Roman"/>
                <a:cs typeface="Times New Roman"/>
              </a:rPr>
              <a:t>agent</a:t>
            </a:r>
            <a:r>
              <a:rPr dirty="0" sz="2000" spc="355">
                <a:solidFill>
                  <a:srgbClr val="585858"/>
                </a:solidFill>
                <a:latin typeface="Times New Roman"/>
                <a:cs typeface="Times New Roman"/>
              </a:rPr>
              <a:t>  </a:t>
            </a:r>
            <a:r>
              <a:rPr dirty="0" sz="2000" spc="130">
                <a:solidFill>
                  <a:srgbClr val="585858"/>
                </a:solidFill>
                <a:latin typeface="Times New Roman"/>
                <a:cs typeface="Times New Roman"/>
              </a:rPr>
              <a:t>coordination</a:t>
            </a:r>
            <a:r>
              <a:rPr dirty="0" sz="2000" spc="370">
                <a:solidFill>
                  <a:srgbClr val="585858"/>
                </a:solidFill>
                <a:latin typeface="Times New Roman"/>
                <a:cs typeface="Times New Roman"/>
              </a:rPr>
              <a:t>  </a:t>
            </a:r>
            <a:r>
              <a:rPr dirty="0" sz="2000" spc="95">
                <a:solidFill>
                  <a:srgbClr val="585858"/>
                </a:solidFill>
                <a:latin typeface="Times New Roman"/>
                <a:cs typeface="Times New Roman"/>
              </a:rPr>
              <a:t>and</a:t>
            </a:r>
            <a:r>
              <a:rPr dirty="0" sz="2000" spc="360">
                <a:solidFill>
                  <a:srgbClr val="585858"/>
                </a:solidFill>
                <a:latin typeface="Times New Roman"/>
                <a:cs typeface="Times New Roman"/>
              </a:rPr>
              <a:t>  </a:t>
            </a:r>
            <a:r>
              <a:rPr dirty="0" sz="2000" spc="100">
                <a:solidFill>
                  <a:srgbClr val="585858"/>
                </a:solidFill>
                <a:latin typeface="Times New Roman"/>
                <a:cs typeface="Times New Roman"/>
              </a:rPr>
              <a:t>human </a:t>
            </a:r>
            <a:r>
              <a:rPr dirty="0" sz="2000" spc="125">
                <a:solidFill>
                  <a:srgbClr val="585858"/>
                </a:solidFill>
                <a:latin typeface="Times New Roman"/>
                <a:cs typeface="Times New Roman"/>
              </a:rPr>
              <a:t>approval</a:t>
            </a:r>
            <a:r>
              <a:rPr dirty="0" sz="2000" spc="55">
                <a:solidFill>
                  <a:srgbClr val="585858"/>
                </a:solidFill>
                <a:latin typeface="Times New Roman"/>
                <a:cs typeface="Times New Roman"/>
              </a:rPr>
              <a:t>  </a:t>
            </a:r>
            <a:r>
              <a:rPr dirty="0" sz="2000" spc="95">
                <a:solidFill>
                  <a:srgbClr val="585858"/>
                </a:solidFill>
                <a:latin typeface="Times New Roman"/>
                <a:cs typeface="Times New Roman"/>
              </a:rPr>
              <a:t>for</a:t>
            </a:r>
            <a:r>
              <a:rPr dirty="0" sz="2000" spc="55">
                <a:solidFill>
                  <a:srgbClr val="585858"/>
                </a:solidFill>
                <a:latin typeface="Times New Roman"/>
                <a:cs typeface="Times New Roman"/>
              </a:rPr>
              <a:t>  </a:t>
            </a:r>
            <a:r>
              <a:rPr dirty="0" sz="2000" spc="130">
                <a:solidFill>
                  <a:srgbClr val="585858"/>
                </a:solidFill>
                <a:latin typeface="Times New Roman"/>
                <a:cs typeface="Times New Roman"/>
              </a:rPr>
              <a:t>modifications,</a:t>
            </a:r>
            <a:r>
              <a:rPr dirty="0" sz="2000" spc="65">
                <a:solidFill>
                  <a:srgbClr val="585858"/>
                </a:solidFill>
                <a:latin typeface="Times New Roman"/>
                <a:cs typeface="Times New Roman"/>
              </a:rPr>
              <a:t>  </a:t>
            </a:r>
            <a:r>
              <a:rPr dirty="0" sz="2000" spc="95">
                <a:solidFill>
                  <a:srgbClr val="585858"/>
                </a:solidFill>
                <a:latin typeface="Times New Roman"/>
                <a:cs typeface="Times New Roman"/>
              </a:rPr>
              <a:t>the</a:t>
            </a:r>
            <a:r>
              <a:rPr dirty="0" sz="2000" spc="50">
                <a:solidFill>
                  <a:srgbClr val="585858"/>
                </a:solidFill>
                <a:latin typeface="Times New Roman"/>
                <a:cs typeface="Times New Roman"/>
              </a:rPr>
              <a:t>  </a:t>
            </a:r>
            <a:r>
              <a:rPr dirty="0" sz="2000" spc="114">
                <a:solidFill>
                  <a:srgbClr val="585858"/>
                </a:solidFill>
                <a:latin typeface="Times New Roman"/>
                <a:cs typeface="Times New Roman"/>
              </a:rPr>
              <a:t>system</a:t>
            </a:r>
            <a:r>
              <a:rPr dirty="0" sz="2000" spc="60">
                <a:solidFill>
                  <a:srgbClr val="585858"/>
                </a:solidFill>
                <a:latin typeface="Times New Roman"/>
                <a:cs typeface="Times New Roman"/>
              </a:rPr>
              <a:t>  </a:t>
            </a:r>
            <a:r>
              <a:rPr dirty="0" sz="2000" spc="105">
                <a:solidFill>
                  <a:srgbClr val="585858"/>
                </a:solidFill>
                <a:latin typeface="Times New Roman"/>
                <a:cs typeface="Times New Roman"/>
              </a:rPr>
              <a:t>aims</a:t>
            </a:r>
            <a:r>
              <a:rPr dirty="0" sz="2000" spc="55">
                <a:solidFill>
                  <a:srgbClr val="585858"/>
                </a:solidFill>
                <a:latin typeface="Times New Roman"/>
                <a:cs typeface="Times New Roman"/>
              </a:rPr>
              <a:t>  </a:t>
            </a:r>
            <a:r>
              <a:rPr dirty="0" sz="2000" spc="65">
                <a:solidFill>
                  <a:srgbClr val="585858"/>
                </a:solidFill>
                <a:latin typeface="Times New Roman"/>
                <a:cs typeface="Times New Roman"/>
              </a:rPr>
              <a:t>to</a:t>
            </a:r>
            <a:r>
              <a:rPr dirty="0" sz="2000" spc="50">
                <a:solidFill>
                  <a:srgbClr val="585858"/>
                </a:solidFill>
                <a:latin typeface="Times New Roman"/>
                <a:cs typeface="Times New Roman"/>
              </a:rPr>
              <a:t>  </a:t>
            </a:r>
            <a:r>
              <a:rPr dirty="0" sz="2000" spc="120">
                <a:solidFill>
                  <a:srgbClr val="585858"/>
                </a:solidFill>
                <a:latin typeface="Times New Roman"/>
                <a:cs typeface="Times New Roman"/>
              </a:rPr>
              <a:t>improve</a:t>
            </a:r>
            <a:r>
              <a:rPr dirty="0" sz="2000" spc="65">
                <a:solidFill>
                  <a:srgbClr val="585858"/>
                </a:solidFill>
                <a:latin typeface="Times New Roman"/>
                <a:cs typeface="Times New Roman"/>
              </a:rPr>
              <a:t>  </a:t>
            </a:r>
            <a:r>
              <a:rPr dirty="0" sz="2000" spc="105">
                <a:solidFill>
                  <a:srgbClr val="585858"/>
                </a:solidFill>
                <a:latin typeface="Times New Roman"/>
                <a:cs typeface="Times New Roman"/>
              </a:rPr>
              <a:t>code</a:t>
            </a:r>
            <a:r>
              <a:rPr dirty="0" sz="2000" spc="50">
                <a:solidFill>
                  <a:srgbClr val="585858"/>
                </a:solidFill>
                <a:latin typeface="Times New Roman"/>
                <a:cs typeface="Times New Roman"/>
              </a:rPr>
              <a:t>  </a:t>
            </a:r>
            <a:r>
              <a:rPr dirty="0" sz="2000" spc="105">
                <a:solidFill>
                  <a:srgbClr val="585858"/>
                </a:solidFill>
                <a:latin typeface="Times New Roman"/>
                <a:cs typeface="Times New Roman"/>
              </a:rPr>
              <a:t>quality,</a:t>
            </a:r>
            <a:r>
              <a:rPr dirty="0" sz="2000" spc="65">
                <a:solidFill>
                  <a:srgbClr val="585858"/>
                </a:solidFill>
                <a:latin typeface="Times New Roman"/>
                <a:cs typeface="Times New Roman"/>
              </a:rPr>
              <a:t>  </a:t>
            </a:r>
            <a:r>
              <a:rPr dirty="0" sz="2000" spc="100">
                <a:solidFill>
                  <a:srgbClr val="585858"/>
                </a:solidFill>
                <a:latin typeface="Times New Roman"/>
                <a:cs typeface="Times New Roman"/>
              </a:rPr>
              <a:t>security, </a:t>
            </a:r>
            <a:r>
              <a:rPr dirty="0" sz="2000" spc="120">
                <a:solidFill>
                  <a:srgbClr val="585858"/>
                </a:solidFill>
                <a:latin typeface="Times New Roman"/>
                <a:cs typeface="Times New Roman"/>
              </a:rPr>
              <a:t>reliability,</a:t>
            </a:r>
            <a:r>
              <a:rPr dirty="0" sz="2000" spc="44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2000" spc="90">
                <a:solidFill>
                  <a:srgbClr val="585858"/>
                </a:solidFill>
                <a:latin typeface="Times New Roman"/>
                <a:cs typeface="Times New Roman"/>
              </a:rPr>
              <a:t>and</a:t>
            </a:r>
            <a:r>
              <a:rPr dirty="0" sz="2000" spc="425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2000" spc="125">
                <a:solidFill>
                  <a:srgbClr val="585858"/>
                </a:solidFill>
                <a:latin typeface="Times New Roman"/>
                <a:cs typeface="Times New Roman"/>
              </a:rPr>
              <a:t>developer</a:t>
            </a:r>
            <a:r>
              <a:rPr dirty="0" sz="2000" spc="43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2000" spc="130">
                <a:solidFill>
                  <a:srgbClr val="585858"/>
                </a:solidFill>
                <a:latin typeface="Times New Roman"/>
                <a:cs typeface="Times New Roman"/>
              </a:rPr>
              <a:t>productivity</a:t>
            </a:r>
            <a:r>
              <a:rPr dirty="0" sz="2000" spc="445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2000" spc="110">
                <a:solidFill>
                  <a:srgbClr val="585858"/>
                </a:solidFill>
                <a:latin typeface="Times New Roman"/>
                <a:cs typeface="Times New Roman"/>
              </a:rPr>
              <a:t>while</a:t>
            </a:r>
            <a:r>
              <a:rPr dirty="0" sz="2000" spc="425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2000" spc="125">
                <a:solidFill>
                  <a:srgbClr val="585858"/>
                </a:solidFill>
                <a:latin typeface="Times New Roman"/>
                <a:cs typeface="Times New Roman"/>
              </a:rPr>
              <a:t>supporting</a:t>
            </a:r>
            <a:r>
              <a:rPr dirty="0" sz="2000" spc="44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2000" spc="125">
                <a:solidFill>
                  <a:srgbClr val="585858"/>
                </a:solidFill>
                <a:latin typeface="Times New Roman"/>
                <a:cs typeface="Times New Roman"/>
              </a:rPr>
              <a:t>integration</a:t>
            </a:r>
            <a:r>
              <a:rPr dirty="0" sz="2000" spc="445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2000" spc="100">
                <a:solidFill>
                  <a:srgbClr val="585858"/>
                </a:solidFill>
                <a:latin typeface="Times New Roman"/>
                <a:cs typeface="Times New Roman"/>
              </a:rPr>
              <a:t>with</a:t>
            </a:r>
            <a:r>
              <a:rPr dirty="0" sz="2000" spc="44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2000" spc="100">
                <a:solidFill>
                  <a:srgbClr val="585858"/>
                </a:solidFill>
                <a:latin typeface="Times New Roman"/>
                <a:cs typeface="Times New Roman"/>
              </a:rPr>
              <a:t>modern </a:t>
            </a:r>
            <a:r>
              <a:rPr dirty="0" sz="2000" spc="110">
                <a:solidFill>
                  <a:srgbClr val="585858"/>
                </a:solidFill>
                <a:latin typeface="Times New Roman"/>
                <a:cs typeface="Times New Roman"/>
              </a:rPr>
              <a:t>CI/CD</a:t>
            </a:r>
            <a:r>
              <a:rPr dirty="0" sz="2000" spc="29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2000" spc="120">
                <a:solidFill>
                  <a:srgbClr val="585858"/>
                </a:solidFill>
                <a:latin typeface="Times New Roman"/>
                <a:cs typeface="Times New Roman"/>
              </a:rPr>
              <a:t>workflows.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97179" y="309498"/>
            <a:ext cx="5440045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364865" algn="l"/>
              </a:tabLst>
            </a:pPr>
            <a:r>
              <a:rPr dirty="0" sz="3600" spc="215">
                <a:latin typeface="Arial"/>
                <a:cs typeface="Arial"/>
              </a:rPr>
              <a:t>LITERATURE</a:t>
            </a:r>
            <a:r>
              <a:rPr dirty="0" sz="3600">
                <a:latin typeface="Arial"/>
                <a:cs typeface="Arial"/>
              </a:rPr>
              <a:t>	</a:t>
            </a:r>
            <a:r>
              <a:rPr dirty="0" sz="3600" spc="215">
                <a:latin typeface="Arial"/>
                <a:cs typeface="Arial"/>
              </a:rPr>
              <a:t>SURVEY</a:t>
            </a:r>
            <a:endParaRPr sz="36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97179" y="1277873"/>
            <a:ext cx="8934450" cy="515429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39065">
              <a:lnSpc>
                <a:spcPct val="100000"/>
              </a:lnSpc>
              <a:spcBef>
                <a:spcPts val="95"/>
              </a:spcBef>
            </a:pPr>
            <a:r>
              <a:rPr dirty="0" sz="1400" b="1">
                <a:solidFill>
                  <a:srgbClr val="585858"/>
                </a:solidFill>
                <a:latin typeface="Times New Roman"/>
                <a:cs typeface="Times New Roman"/>
              </a:rPr>
              <a:t>1</a:t>
            </a:r>
            <a:r>
              <a:rPr dirty="0" sz="1400" spc="-190" b="1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1400" b="1">
                <a:solidFill>
                  <a:srgbClr val="585858"/>
                </a:solidFill>
                <a:latin typeface="Times New Roman"/>
                <a:cs typeface="Times New Roman"/>
              </a:rPr>
              <a:t>.</a:t>
            </a:r>
            <a:r>
              <a:rPr dirty="0" sz="1400" spc="285" b="1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1600" spc="100" b="1">
                <a:solidFill>
                  <a:srgbClr val="585858"/>
                </a:solidFill>
                <a:latin typeface="Times New Roman"/>
                <a:cs typeface="Times New Roman"/>
              </a:rPr>
              <a:t>Code</a:t>
            </a:r>
            <a:r>
              <a:rPr dirty="0" sz="1600" spc="-260" b="1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1600" spc="120" b="1">
                <a:solidFill>
                  <a:srgbClr val="585858"/>
                </a:solidFill>
                <a:latin typeface="Times New Roman"/>
                <a:cs typeface="Times New Roman"/>
              </a:rPr>
              <a:t>Reviewer</a:t>
            </a:r>
            <a:r>
              <a:rPr dirty="0" sz="1600" spc="345" b="1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1600" b="1">
                <a:solidFill>
                  <a:srgbClr val="585858"/>
                </a:solidFill>
                <a:latin typeface="Times New Roman"/>
                <a:cs typeface="Times New Roman"/>
              </a:rPr>
              <a:t>—</a:t>
            </a:r>
            <a:r>
              <a:rPr dirty="0" sz="1600" spc="310" b="1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1600" spc="65" b="1">
                <a:solidFill>
                  <a:srgbClr val="585858"/>
                </a:solidFill>
                <a:latin typeface="Times New Roman"/>
                <a:cs typeface="Times New Roman"/>
              </a:rPr>
              <a:t>Li</a:t>
            </a:r>
            <a:r>
              <a:rPr dirty="0" sz="1600" spc="305" b="1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1600" spc="60" b="1">
                <a:solidFill>
                  <a:srgbClr val="585858"/>
                </a:solidFill>
                <a:latin typeface="Times New Roman"/>
                <a:cs typeface="Times New Roman"/>
              </a:rPr>
              <a:t>et</a:t>
            </a:r>
            <a:r>
              <a:rPr dirty="0" sz="1600" spc="315" b="1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1600" spc="85" b="1">
                <a:solidFill>
                  <a:srgbClr val="585858"/>
                </a:solidFill>
                <a:latin typeface="Times New Roman"/>
                <a:cs typeface="Times New Roman"/>
              </a:rPr>
              <a:t>al.</a:t>
            </a:r>
            <a:r>
              <a:rPr dirty="0" sz="1600" spc="310" b="1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1600" spc="-20" b="1">
                <a:solidFill>
                  <a:srgbClr val="585858"/>
                </a:solidFill>
                <a:latin typeface="Times New Roman"/>
                <a:cs typeface="Times New Roman"/>
              </a:rPr>
              <a:t>(</a:t>
            </a:r>
            <a:r>
              <a:rPr dirty="0" sz="1600" spc="-265" b="1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1600" spc="100" b="1">
                <a:solidFill>
                  <a:srgbClr val="585858"/>
                </a:solidFill>
                <a:latin typeface="Times New Roman"/>
                <a:cs typeface="Times New Roman"/>
              </a:rPr>
              <a:t>2022</a:t>
            </a:r>
            <a:r>
              <a:rPr dirty="0" sz="1600" spc="-254" b="1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1600" spc="-50" b="1">
                <a:solidFill>
                  <a:srgbClr val="585858"/>
                </a:solidFill>
                <a:latin typeface="Times New Roman"/>
                <a:cs typeface="Times New Roman"/>
              </a:rPr>
              <a:t>)</a:t>
            </a:r>
            <a:endParaRPr sz="160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spcBef>
                <a:spcPts val="1570"/>
              </a:spcBef>
              <a:buFont typeface="Arial"/>
              <a:buChar char="•"/>
              <a:tabLst>
                <a:tab pos="240665" algn="l"/>
              </a:tabLst>
            </a:pPr>
            <a:r>
              <a:rPr dirty="0" sz="1600" spc="120">
                <a:solidFill>
                  <a:srgbClr val="585858"/>
                </a:solidFill>
                <a:latin typeface="Times New Roman"/>
                <a:cs typeface="Times New Roman"/>
              </a:rPr>
              <a:t>Pretrained</a:t>
            </a:r>
            <a:r>
              <a:rPr dirty="0" sz="1600" spc="37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1600" spc="100">
                <a:solidFill>
                  <a:srgbClr val="585858"/>
                </a:solidFill>
                <a:latin typeface="Times New Roman"/>
                <a:cs typeface="Times New Roman"/>
              </a:rPr>
              <a:t>model</a:t>
            </a:r>
            <a:r>
              <a:rPr dirty="0" sz="1600" spc="365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1600" spc="85">
                <a:solidFill>
                  <a:srgbClr val="585858"/>
                </a:solidFill>
                <a:latin typeface="Times New Roman"/>
                <a:cs typeface="Times New Roman"/>
              </a:rPr>
              <a:t>for</a:t>
            </a:r>
            <a:r>
              <a:rPr dirty="0" sz="1600" spc="315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1600" spc="120">
                <a:solidFill>
                  <a:srgbClr val="585858"/>
                </a:solidFill>
                <a:latin typeface="Times New Roman"/>
                <a:cs typeface="Times New Roman"/>
              </a:rPr>
              <a:t>automating</a:t>
            </a:r>
            <a:r>
              <a:rPr dirty="0" sz="1600" spc="37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1600" spc="95">
                <a:solidFill>
                  <a:srgbClr val="585858"/>
                </a:solidFill>
                <a:latin typeface="Times New Roman"/>
                <a:cs typeface="Times New Roman"/>
              </a:rPr>
              <a:t>code</a:t>
            </a:r>
            <a:r>
              <a:rPr dirty="0" sz="1600" spc="-19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1600" spc="-20">
                <a:solidFill>
                  <a:srgbClr val="585858"/>
                </a:solidFill>
                <a:latin typeface="Times New Roman"/>
                <a:cs typeface="Times New Roman"/>
              </a:rPr>
              <a:t>-</a:t>
            </a:r>
            <a:r>
              <a:rPr dirty="0" sz="1600" spc="-26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1600" spc="114">
                <a:solidFill>
                  <a:srgbClr val="585858"/>
                </a:solidFill>
                <a:latin typeface="Times New Roman"/>
                <a:cs typeface="Times New Roman"/>
              </a:rPr>
              <a:t>review</a:t>
            </a:r>
            <a:r>
              <a:rPr dirty="0" sz="1600" spc="37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1600" spc="114">
                <a:solidFill>
                  <a:srgbClr val="585858"/>
                </a:solidFill>
                <a:latin typeface="Times New Roman"/>
                <a:cs typeface="Times New Roman"/>
              </a:rPr>
              <a:t>activities.</a:t>
            </a:r>
            <a:endParaRPr sz="160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spcBef>
                <a:spcPts val="1585"/>
              </a:spcBef>
              <a:buFont typeface="Arial"/>
              <a:buChar char="•"/>
              <a:tabLst>
                <a:tab pos="240665" algn="l"/>
              </a:tabLst>
            </a:pPr>
            <a:r>
              <a:rPr dirty="0" sz="1600" spc="114">
                <a:solidFill>
                  <a:srgbClr val="585858"/>
                </a:solidFill>
                <a:latin typeface="Times New Roman"/>
                <a:cs typeface="Times New Roman"/>
              </a:rPr>
              <a:t>Performs</a:t>
            </a:r>
            <a:r>
              <a:rPr dirty="0" sz="1600" spc="36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1600" spc="105">
                <a:solidFill>
                  <a:srgbClr val="585858"/>
                </a:solidFill>
                <a:latin typeface="Times New Roman"/>
                <a:cs typeface="Times New Roman"/>
              </a:rPr>
              <a:t>code-</a:t>
            </a:r>
            <a:r>
              <a:rPr dirty="0" sz="1600" spc="-254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1600" spc="120">
                <a:solidFill>
                  <a:srgbClr val="585858"/>
                </a:solidFill>
                <a:latin typeface="Times New Roman"/>
                <a:cs typeface="Times New Roman"/>
              </a:rPr>
              <a:t>quality</a:t>
            </a:r>
            <a:r>
              <a:rPr dirty="0" sz="1600" spc="365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1600" spc="125">
                <a:solidFill>
                  <a:srgbClr val="585858"/>
                </a:solidFill>
                <a:latin typeface="Times New Roman"/>
                <a:cs typeface="Times New Roman"/>
              </a:rPr>
              <a:t>estimation,</a:t>
            </a:r>
            <a:r>
              <a:rPr dirty="0" sz="1600" spc="37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1600" spc="105">
                <a:solidFill>
                  <a:srgbClr val="585858"/>
                </a:solidFill>
                <a:latin typeface="Times New Roman"/>
                <a:cs typeface="Times New Roman"/>
              </a:rPr>
              <a:t>review</a:t>
            </a:r>
            <a:r>
              <a:rPr dirty="0" sz="1600" spc="-195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1600" spc="-20">
                <a:solidFill>
                  <a:srgbClr val="585858"/>
                </a:solidFill>
                <a:latin typeface="Times New Roman"/>
                <a:cs typeface="Times New Roman"/>
              </a:rPr>
              <a:t>-</a:t>
            </a:r>
            <a:r>
              <a:rPr dirty="0" sz="1600" spc="-245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1600" spc="120">
                <a:solidFill>
                  <a:srgbClr val="585858"/>
                </a:solidFill>
                <a:latin typeface="Times New Roman"/>
                <a:cs typeface="Times New Roman"/>
              </a:rPr>
              <a:t>comment</a:t>
            </a:r>
            <a:r>
              <a:rPr dirty="0" sz="1600" spc="37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1600" spc="120">
                <a:solidFill>
                  <a:srgbClr val="585858"/>
                </a:solidFill>
                <a:latin typeface="Times New Roman"/>
                <a:cs typeface="Times New Roman"/>
              </a:rPr>
              <a:t>generation,</a:t>
            </a:r>
            <a:r>
              <a:rPr dirty="0" sz="1600" spc="36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1600" spc="85">
                <a:solidFill>
                  <a:srgbClr val="585858"/>
                </a:solidFill>
                <a:latin typeface="Times New Roman"/>
                <a:cs typeface="Times New Roman"/>
              </a:rPr>
              <a:t>and</a:t>
            </a:r>
            <a:r>
              <a:rPr dirty="0" sz="1600" spc="33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1600" spc="95">
                <a:solidFill>
                  <a:srgbClr val="585858"/>
                </a:solidFill>
                <a:latin typeface="Times New Roman"/>
                <a:cs typeface="Times New Roman"/>
              </a:rPr>
              <a:t>code</a:t>
            </a:r>
            <a:r>
              <a:rPr dirty="0" sz="1600" spc="335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1600" spc="110">
                <a:solidFill>
                  <a:srgbClr val="585858"/>
                </a:solidFill>
                <a:latin typeface="Times New Roman"/>
                <a:cs typeface="Times New Roman"/>
              </a:rPr>
              <a:t>refinement.</a:t>
            </a:r>
            <a:endParaRPr sz="160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spcBef>
                <a:spcPts val="1575"/>
              </a:spcBef>
              <a:buFont typeface="Arial"/>
              <a:buChar char="•"/>
              <a:tabLst>
                <a:tab pos="240665" algn="l"/>
              </a:tabLst>
            </a:pPr>
            <a:r>
              <a:rPr dirty="0" sz="1600" spc="114">
                <a:solidFill>
                  <a:srgbClr val="585858"/>
                </a:solidFill>
                <a:latin typeface="Times New Roman"/>
                <a:cs typeface="Times New Roman"/>
              </a:rPr>
              <a:t>Supports</a:t>
            </a:r>
            <a:r>
              <a:rPr dirty="0" sz="1600" spc="35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1600" spc="85">
                <a:solidFill>
                  <a:srgbClr val="585858"/>
                </a:solidFill>
                <a:latin typeface="Times New Roman"/>
                <a:cs typeface="Times New Roman"/>
              </a:rPr>
              <a:t>the</a:t>
            </a:r>
            <a:r>
              <a:rPr dirty="0" sz="1600" spc="35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1600" spc="100" b="1">
                <a:solidFill>
                  <a:srgbClr val="585858"/>
                </a:solidFill>
                <a:latin typeface="Times New Roman"/>
                <a:cs typeface="Times New Roman"/>
              </a:rPr>
              <a:t>Code</a:t>
            </a:r>
            <a:r>
              <a:rPr dirty="0" sz="1600" spc="310" b="1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1600" spc="120" b="1">
                <a:solidFill>
                  <a:srgbClr val="585858"/>
                </a:solidFill>
                <a:latin typeface="Times New Roman"/>
                <a:cs typeface="Times New Roman"/>
              </a:rPr>
              <a:t>Reviewer</a:t>
            </a:r>
            <a:r>
              <a:rPr dirty="0" sz="1600" spc="225" b="1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1600" spc="105" b="1">
                <a:solidFill>
                  <a:srgbClr val="585858"/>
                </a:solidFill>
                <a:latin typeface="Times New Roman"/>
                <a:cs typeface="Times New Roman"/>
              </a:rPr>
              <a:t>Agent</a:t>
            </a:r>
            <a:r>
              <a:rPr dirty="0" sz="1600" spc="365" b="1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1600" spc="60">
                <a:solidFill>
                  <a:srgbClr val="585858"/>
                </a:solidFill>
                <a:latin typeface="Times New Roman"/>
                <a:cs typeface="Times New Roman"/>
              </a:rPr>
              <a:t>of</a:t>
            </a:r>
            <a:r>
              <a:rPr dirty="0" sz="1600" spc="31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1600" spc="85">
                <a:solidFill>
                  <a:srgbClr val="585858"/>
                </a:solidFill>
                <a:latin typeface="Times New Roman"/>
                <a:cs typeface="Times New Roman"/>
              </a:rPr>
              <a:t>the</a:t>
            </a:r>
            <a:r>
              <a:rPr dirty="0" sz="1600" spc="325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1600" spc="114">
                <a:solidFill>
                  <a:srgbClr val="585858"/>
                </a:solidFill>
                <a:latin typeface="Times New Roman"/>
                <a:cs typeface="Times New Roman"/>
              </a:rPr>
              <a:t>proposed</a:t>
            </a:r>
            <a:r>
              <a:rPr dirty="0" sz="1600" spc="34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1600" spc="105">
                <a:solidFill>
                  <a:srgbClr val="585858"/>
                </a:solidFill>
                <a:latin typeface="Times New Roman"/>
                <a:cs typeface="Times New Roman"/>
              </a:rPr>
              <a:t>system.</a:t>
            </a:r>
            <a:endParaRPr sz="1600">
              <a:latin typeface="Times New Roman"/>
              <a:cs typeface="Times New Roman"/>
            </a:endParaRPr>
          </a:p>
          <a:p>
            <a:pPr marL="152400">
              <a:lnSpc>
                <a:spcPct val="100000"/>
              </a:lnSpc>
              <a:spcBef>
                <a:spcPts val="1570"/>
              </a:spcBef>
            </a:pPr>
            <a:r>
              <a:rPr dirty="0" sz="1600" spc="-10" b="1">
                <a:solidFill>
                  <a:srgbClr val="585858"/>
                </a:solidFill>
                <a:latin typeface="Times New Roman"/>
                <a:cs typeface="Times New Roman"/>
              </a:rPr>
              <a:t>2</a:t>
            </a:r>
            <a:r>
              <a:rPr dirty="0" sz="1600" spc="-254" b="1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1600" b="1">
                <a:solidFill>
                  <a:srgbClr val="585858"/>
                </a:solidFill>
                <a:latin typeface="Times New Roman"/>
                <a:cs typeface="Times New Roman"/>
              </a:rPr>
              <a:t>.</a:t>
            </a:r>
            <a:r>
              <a:rPr dirty="0" sz="1600" spc="295" b="1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1600" spc="100" b="1">
                <a:solidFill>
                  <a:srgbClr val="585858"/>
                </a:solidFill>
                <a:latin typeface="Times New Roman"/>
                <a:cs typeface="Times New Roman"/>
              </a:rPr>
              <a:t>Chat</a:t>
            </a:r>
            <a:r>
              <a:rPr dirty="0" sz="1600" spc="-265" b="1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1600" spc="85" b="1">
                <a:solidFill>
                  <a:srgbClr val="585858"/>
                </a:solidFill>
                <a:latin typeface="Times New Roman"/>
                <a:cs typeface="Times New Roman"/>
              </a:rPr>
              <a:t>Dev</a:t>
            </a:r>
            <a:r>
              <a:rPr dirty="0" sz="1600" spc="365" b="1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1600" b="1">
                <a:solidFill>
                  <a:srgbClr val="585858"/>
                </a:solidFill>
                <a:latin typeface="Times New Roman"/>
                <a:cs typeface="Times New Roman"/>
              </a:rPr>
              <a:t>—</a:t>
            </a:r>
            <a:r>
              <a:rPr dirty="0" sz="1600" spc="310" b="1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1600" spc="95" b="1">
                <a:solidFill>
                  <a:srgbClr val="585858"/>
                </a:solidFill>
                <a:latin typeface="Times New Roman"/>
                <a:cs typeface="Times New Roman"/>
              </a:rPr>
              <a:t>Qian</a:t>
            </a:r>
            <a:r>
              <a:rPr dirty="0" sz="1600" spc="330" b="1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1600" spc="60" b="1">
                <a:solidFill>
                  <a:srgbClr val="585858"/>
                </a:solidFill>
                <a:latin typeface="Times New Roman"/>
                <a:cs typeface="Times New Roman"/>
              </a:rPr>
              <a:t>et</a:t>
            </a:r>
            <a:r>
              <a:rPr dirty="0" sz="1600" spc="315" b="1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1600" spc="85" b="1">
                <a:solidFill>
                  <a:srgbClr val="585858"/>
                </a:solidFill>
                <a:latin typeface="Times New Roman"/>
                <a:cs typeface="Times New Roman"/>
              </a:rPr>
              <a:t>al.</a:t>
            </a:r>
            <a:r>
              <a:rPr dirty="0" sz="1600" spc="315" b="1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1600" spc="-20" b="1">
                <a:solidFill>
                  <a:srgbClr val="585858"/>
                </a:solidFill>
                <a:latin typeface="Times New Roman"/>
                <a:cs typeface="Times New Roman"/>
              </a:rPr>
              <a:t>(</a:t>
            </a:r>
            <a:r>
              <a:rPr dirty="0" sz="1600" spc="-265" b="1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1600" spc="100" b="1">
                <a:solidFill>
                  <a:srgbClr val="585858"/>
                </a:solidFill>
                <a:latin typeface="Times New Roman"/>
                <a:cs typeface="Times New Roman"/>
              </a:rPr>
              <a:t>2024</a:t>
            </a:r>
            <a:r>
              <a:rPr dirty="0" sz="1600" spc="-254" b="1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1600" spc="-50" b="1">
                <a:solidFill>
                  <a:srgbClr val="585858"/>
                </a:solidFill>
                <a:latin typeface="Times New Roman"/>
                <a:cs typeface="Times New Roman"/>
              </a:rPr>
              <a:t>)</a:t>
            </a:r>
            <a:endParaRPr sz="160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spcBef>
                <a:spcPts val="1585"/>
              </a:spcBef>
              <a:buFont typeface="Arial"/>
              <a:buChar char="•"/>
              <a:tabLst>
                <a:tab pos="240665" algn="l"/>
              </a:tabLst>
            </a:pPr>
            <a:r>
              <a:rPr dirty="0" sz="1600" spc="114">
                <a:solidFill>
                  <a:srgbClr val="585858"/>
                </a:solidFill>
                <a:latin typeface="Times New Roman"/>
                <a:cs typeface="Times New Roman"/>
              </a:rPr>
              <a:t>Introduced</a:t>
            </a:r>
            <a:r>
              <a:rPr dirty="0" sz="1600" spc="375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1600">
                <a:solidFill>
                  <a:srgbClr val="585858"/>
                </a:solidFill>
                <a:latin typeface="Times New Roman"/>
                <a:cs typeface="Times New Roman"/>
              </a:rPr>
              <a:t>a</a:t>
            </a:r>
            <a:r>
              <a:rPr dirty="0" sz="1600" spc="32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1600" spc="114">
                <a:solidFill>
                  <a:srgbClr val="585858"/>
                </a:solidFill>
                <a:latin typeface="Times New Roman"/>
                <a:cs typeface="Times New Roman"/>
              </a:rPr>
              <a:t>multi-</a:t>
            </a:r>
            <a:r>
              <a:rPr dirty="0" sz="1600" spc="-25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1600" spc="110">
                <a:solidFill>
                  <a:srgbClr val="585858"/>
                </a:solidFill>
                <a:latin typeface="Times New Roman"/>
                <a:cs typeface="Times New Roman"/>
              </a:rPr>
              <a:t>agent</a:t>
            </a:r>
            <a:r>
              <a:rPr dirty="0" sz="1600" spc="375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1600" spc="114">
                <a:solidFill>
                  <a:srgbClr val="585858"/>
                </a:solidFill>
                <a:latin typeface="Times New Roman"/>
                <a:cs typeface="Times New Roman"/>
              </a:rPr>
              <a:t>framework</a:t>
            </a:r>
            <a:r>
              <a:rPr dirty="0" sz="1600" spc="375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1600" spc="85">
                <a:solidFill>
                  <a:srgbClr val="585858"/>
                </a:solidFill>
                <a:latin typeface="Times New Roman"/>
                <a:cs typeface="Times New Roman"/>
              </a:rPr>
              <a:t>for</a:t>
            </a:r>
            <a:r>
              <a:rPr dirty="0" sz="1600" spc="32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1600" spc="114">
                <a:solidFill>
                  <a:srgbClr val="585858"/>
                </a:solidFill>
                <a:latin typeface="Times New Roman"/>
                <a:cs typeface="Times New Roman"/>
              </a:rPr>
              <a:t>software</a:t>
            </a:r>
            <a:r>
              <a:rPr dirty="0" sz="1600" spc="36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1600" spc="114">
                <a:solidFill>
                  <a:srgbClr val="585858"/>
                </a:solidFill>
                <a:latin typeface="Times New Roman"/>
                <a:cs typeface="Times New Roman"/>
              </a:rPr>
              <a:t>development.</a:t>
            </a:r>
            <a:endParaRPr sz="160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spcBef>
                <a:spcPts val="1575"/>
              </a:spcBef>
              <a:buFont typeface="Arial"/>
              <a:buChar char="•"/>
              <a:tabLst>
                <a:tab pos="240665" algn="l"/>
              </a:tabLst>
            </a:pPr>
            <a:r>
              <a:rPr dirty="0" sz="1600" spc="120">
                <a:solidFill>
                  <a:srgbClr val="585858"/>
                </a:solidFill>
                <a:latin typeface="Times New Roman"/>
                <a:cs typeface="Times New Roman"/>
              </a:rPr>
              <a:t>Specialized</a:t>
            </a:r>
            <a:r>
              <a:rPr dirty="0" sz="1600" spc="37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1600" spc="85">
                <a:solidFill>
                  <a:srgbClr val="585858"/>
                </a:solidFill>
                <a:latin typeface="Times New Roman"/>
                <a:cs typeface="Times New Roman"/>
              </a:rPr>
              <a:t>LLM</a:t>
            </a:r>
            <a:r>
              <a:rPr dirty="0" sz="1600" spc="33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1600" spc="110">
                <a:solidFill>
                  <a:srgbClr val="585858"/>
                </a:solidFill>
                <a:latin typeface="Times New Roman"/>
                <a:cs typeface="Times New Roman"/>
              </a:rPr>
              <a:t>agents</a:t>
            </a:r>
            <a:r>
              <a:rPr dirty="0" sz="1600" spc="345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1600" spc="120">
                <a:solidFill>
                  <a:srgbClr val="585858"/>
                </a:solidFill>
                <a:latin typeface="Times New Roman"/>
                <a:cs typeface="Times New Roman"/>
              </a:rPr>
              <a:t>collaborate</a:t>
            </a:r>
            <a:r>
              <a:rPr dirty="0" sz="1600" spc="365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1600" spc="60">
                <a:solidFill>
                  <a:srgbClr val="585858"/>
                </a:solidFill>
                <a:latin typeface="Times New Roman"/>
                <a:cs typeface="Times New Roman"/>
              </a:rPr>
              <a:t>on</a:t>
            </a:r>
            <a:r>
              <a:rPr dirty="0" sz="1600" spc="31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1600" spc="105">
                <a:solidFill>
                  <a:srgbClr val="585858"/>
                </a:solidFill>
                <a:latin typeface="Times New Roman"/>
                <a:cs typeface="Times New Roman"/>
              </a:rPr>
              <a:t>tasks</a:t>
            </a:r>
            <a:r>
              <a:rPr dirty="0" sz="1600" spc="345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1600" spc="95">
                <a:solidFill>
                  <a:srgbClr val="585858"/>
                </a:solidFill>
                <a:latin typeface="Times New Roman"/>
                <a:cs typeface="Times New Roman"/>
              </a:rPr>
              <a:t>such</a:t>
            </a:r>
            <a:r>
              <a:rPr dirty="0" sz="1600" spc="335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1600" spc="60">
                <a:solidFill>
                  <a:srgbClr val="585858"/>
                </a:solidFill>
                <a:latin typeface="Times New Roman"/>
                <a:cs typeface="Times New Roman"/>
              </a:rPr>
              <a:t>as</a:t>
            </a:r>
            <a:r>
              <a:rPr dirty="0" sz="1600" spc="32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1600" spc="110">
                <a:solidFill>
                  <a:srgbClr val="585858"/>
                </a:solidFill>
                <a:latin typeface="Times New Roman"/>
                <a:cs typeface="Times New Roman"/>
              </a:rPr>
              <a:t>design,</a:t>
            </a:r>
            <a:r>
              <a:rPr dirty="0" sz="1600" spc="35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1600" spc="114">
                <a:solidFill>
                  <a:srgbClr val="585858"/>
                </a:solidFill>
                <a:latin typeface="Times New Roman"/>
                <a:cs typeface="Times New Roman"/>
              </a:rPr>
              <a:t>coding,</a:t>
            </a:r>
            <a:r>
              <a:rPr dirty="0" sz="1600" spc="34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1600" spc="85">
                <a:solidFill>
                  <a:srgbClr val="585858"/>
                </a:solidFill>
                <a:latin typeface="Times New Roman"/>
                <a:cs typeface="Times New Roman"/>
              </a:rPr>
              <a:t>and</a:t>
            </a:r>
            <a:r>
              <a:rPr dirty="0" sz="1600" spc="32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1600" spc="105">
                <a:solidFill>
                  <a:srgbClr val="585858"/>
                </a:solidFill>
                <a:latin typeface="Times New Roman"/>
                <a:cs typeface="Times New Roman"/>
              </a:rPr>
              <a:t>testing.</a:t>
            </a:r>
            <a:endParaRPr sz="160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spcBef>
                <a:spcPts val="1570"/>
              </a:spcBef>
              <a:buFont typeface="Arial"/>
              <a:buChar char="•"/>
              <a:tabLst>
                <a:tab pos="240665" algn="l"/>
              </a:tabLst>
            </a:pPr>
            <a:r>
              <a:rPr dirty="0" sz="1600" spc="114">
                <a:solidFill>
                  <a:srgbClr val="585858"/>
                </a:solidFill>
                <a:latin typeface="Times New Roman"/>
                <a:cs typeface="Times New Roman"/>
              </a:rPr>
              <a:t>Provides</a:t>
            </a:r>
            <a:r>
              <a:rPr dirty="0" sz="1600" spc="37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1600" spc="85">
                <a:solidFill>
                  <a:srgbClr val="585858"/>
                </a:solidFill>
                <a:latin typeface="Times New Roman"/>
                <a:cs typeface="Times New Roman"/>
              </a:rPr>
              <a:t>the</a:t>
            </a:r>
            <a:r>
              <a:rPr dirty="0" sz="1600" spc="345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1600" spc="120" b="1">
                <a:solidFill>
                  <a:srgbClr val="585858"/>
                </a:solidFill>
                <a:latin typeface="Times New Roman"/>
                <a:cs typeface="Times New Roman"/>
              </a:rPr>
              <a:t>conceptual</a:t>
            </a:r>
            <a:r>
              <a:rPr dirty="0" sz="1600" spc="370" b="1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1600" spc="120" b="1">
                <a:solidFill>
                  <a:srgbClr val="585858"/>
                </a:solidFill>
                <a:latin typeface="Times New Roman"/>
                <a:cs typeface="Times New Roman"/>
              </a:rPr>
              <a:t>foundation</a:t>
            </a:r>
            <a:r>
              <a:rPr dirty="0" sz="1600" spc="370" b="1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1600" spc="80" b="1">
                <a:solidFill>
                  <a:srgbClr val="585858"/>
                </a:solidFill>
                <a:latin typeface="Times New Roman"/>
                <a:cs typeface="Times New Roman"/>
              </a:rPr>
              <a:t>for</a:t>
            </a:r>
            <a:r>
              <a:rPr dirty="0" sz="1600" spc="300" b="1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1600" spc="85" b="1">
                <a:solidFill>
                  <a:srgbClr val="585858"/>
                </a:solidFill>
                <a:latin typeface="Times New Roman"/>
                <a:cs typeface="Times New Roman"/>
              </a:rPr>
              <a:t>the</a:t>
            </a:r>
            <a:r>
              <a:rPr dirty="0" sz="1600" spc="345" b="1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1600" spc="100" b="1">
                <a:solidFill>
                  <a:srgbClr val="585858"/>
                </a:solidFill>
                <a:latin typeface="Times New Roman"/>
                <a:cs typeface="Times New Roman"/>
              </a:rPr>
              <a:t>multi</a:t>
            </a:r>
            <a:r>
              <a:rPr dirty="0" sz="1600" spc="-190" b="1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1600" spc="-20" b="1">
                <a:solidFill>
                  <a:srgbClr val="585858"/>
                </a:solidFill>
                <a:latin typeface="Times New Roman"/>
                <a:cs typeface="Times New Roman"/>
              </a:rPr>
              <a:t>-</a:t>
            </a:r>
            <a:r>
              <a:rPr dirty="0" sz="1600" spc="-260" b="1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1600" spc="110" b="1">
                <a:solidFill>
                  <a:srgbClr val="585858"/>
                </a:solidFill>
                <a:latin typeface="Times New Roman"/>
                <a:cs typeface="Times New Roman"/>
              </a:rPr>
              <a:t>agent</a:t>
            </a:r>
            <a:r>
              <a:rPr dirty="0" sz="1600" spc="370" b="1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1600" spc="120" b="1">
                <a:solidFill>
                  <a:srgbClr val="585858"/>
                </a:solidFill>
                <a:latin typeface="Times New Roman"/>
                <a:cs typeface="Times New Roman"/>
              </a:rPr>
              <a:t>architecture</a:t>
            </a:r>
            <a:r>
              <a:rPr dirty="0" sz="1600" spc="-210" b="1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1600" spc="-50">
                <a:solidFill>
                  <a:srgbClr val="585858"/>
                </a:solidFill>
                <a:latin typeface="Times New Roman"/>
                <a:cs typeface="Times New Roman"/>
              </a:rPr>
              <a:t>.</a:t>
            </a:r>
            <a:endParaRPr sz="1600">
              <a:latin typeface="Times New Roman"/>
              <a:cs typeface="Times New Roman"/>
            </a:endParaRPr>
          </a:p>
          <a:p>
            <a:pPr marL="152400">
              <a:lnSpc>
                <a:spcPct val="100000"/>
              </a:lnSpc>
              <a:spcBef>
                <a:spcPts val="1585"/>
              </a:spcBef>
            </a:pPr>
            <a:r>
              <a:rPr dirty="0" sz="1600" spc="-10" b="1">
                <a:solidFill>
                  <a:srgbClr val="585858"/>
                </a:solidFill>
                <a:latin typeface="Times New Roman"/>
                <a:cs typeface="Times New Roman"/>
              </a:rPr>
              <a:t>3</a:t>
            </a:r>
            <a:r>
              <a:rPr dirty="0" sz="1600" spc="-254" b="1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1600" b="1">
                <a:solidFill>
                  <a:srgbClr val="585858"/>
                </a:solidFill>
                <a:latin typeface="Times New Roman"/>
                <a:cs typeface="Times New Roman"/>
              </a:rPr>
              <a:t>.</a:t>
            </a:r>
            <a:r>
              <a:rPr dirty="0" sz="1600" spc="215" b="1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1600" spc="95" b="1">
                <a:solidFill>
                  <a:srgbClr val="585858"/>
                </a:solidFill>
                <a:latin typeface="Times New Roman"/>
                <a:cs typeface="Times New Roman"/>
              </a:rPr>
              <a:t>Auto</a:t>
            </a:r>
            <a:r>
              <a:rPr dirty="0" sz="1600" spc="-254" b="1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1600" spc="100" b="1">
                <a:solidFill>
                  <a:srgbClr val="585858"/>
                </a:solidFill>
                <a:latin typeface="Times New Roman"/>
                <a:cs typeface="Times New Roman"/>
              </a:rPr>
              <a:t>Code</a:t>
            </a:r>
            <a:r>
              <a:rPr dirty="0" sz="1600" spc="-260" b="1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1600" spc="110" b="1">
                <a:solidFill>
                  <a:srgbClr val="585858"/>
                </a:solidFill>
                <a:latin typeface="Times New Roman"/>
                <a:cs typeface="Times New Roman"/>
              </a:rPr>
              <a:t>Rover</a:t>
            </a:r>
            <a:r>
              <a:rPr dirty="0" sz="1600" spc="355" b="1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1600" b="1">
                <a:solidFill>
                  <a:srgbClr val="585858"/>
                </a:solidFill>
                <a:latin typeface="Times New Roman"/>
                <a:cs typeface="Times New Roman"/>
              </a:rPr>
              <a:t>—</a:t>
            </a:r>
            <a:r>
              <a:rPr dirty="0" sz="1600" spc="315" b="1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1600" spc="105" b="1">
                <a:solidFill>
                  <a:srgbClr val="585858"/>
                </a:solidFill>
                <a:latin typeface="Times New Roman"/>
                <a:cs typeface="Times New Roman"/>
              </a:rPr>
              <a:t>Zhang</a:t>
            </a:r>
            <a:r>
              <a:rPr dirty="0" sz="1600" spc="335" b="1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1600" spc="60" b="1">
                <a:solidFill>
                  <a:srgbClr val="585858"/>
                </a:solidFill>
                <a:latin typeface="Times New Roman"/>
                <a:cs typeface="Times New Roman"/>
              </a:rPr>
              <a:t>et</a:t>
            </a:r>
            <a:r>
              <a:rPr dirty="0" sz="1600" spc="315" b="1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1600" spc="85" b="1">
                <a:solidFill>
                  <a:srgbClr val="585858"/>
                </a:solidFill>
                <a:latin typeface="Times New Roman"/>
                <a:cs typeface="Times New Roman"/>
              </a:rPr>
              <a:t>al.</a:t>
            </a:r>
            <a:r>
              <a:rPr dirty="0" sz="1600" spc="315" b="1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1600" spc="-20" b="1">
                <a:solidFill>
                  <a:srgbClr val="585858"/>
                </a:solidFill>
                <a:latin typeface="Times New Roman"/>
                <a:cs typeface="Times New Roman"/>
              </a:rPr>
              <a:t>(</a:t>
            </a:r>
            <a:r>
              <a:rPr dirty="0" sz="1600" spc="-265" b="1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1600" spc="100" b="1">
                <a:solidFill>
                  <a:srgbClr val="585858"/>
                </a:solidFill>
                <a:latin typeface="Times New Roman"/>
                <a:cs typeface="Times New Roman"/>
              </a:rPr>
              <a:t>2024</a:t>
            </a:r>
            <a:r>
              <a:rPr dirty="0" sz="1600" spc="-250" b="1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1600" spc="-50" b="1">
                <a:solidFill>
                  <a:srgbClr val="585858"/>
                </a:solidFill>
                <a:latin typeface="Times New Roman"/>
                <a:cs typeface="Times New Roman"/>
              </a:rPr>
              <a:t>)</a:t>
            </a:r>
            <a:endParaRPr sz="160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spcBef>
                <a:spcPts val="1575"/>
              </a:spcBef>
              <a:buFont typeface="Arial"/>
              <a:buChar char="•"/>
              <a:tabLst>
                <a:tab pos="240665" algn="l"/>
              </a:tabLst>
            </a:pPr>
            <a:r>
              <a:rPr dirty="0" sz="1600" spc="100">
                <a:solidFill>
                  <a:srgbClr val="585858"/>
                </a:solidFill>
                <a:latin typeface="Times New Roman"/>
                <a:cs typeface="Times New Roman"/>
              </a:rPr>
              <a:t>Uses</a:t>
            </a:r>
            <a:r>
              <a:rPr dirty="0" sz="1600" spc="325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1600" spc="100">
                <a:solidFill>
                  <a:srgbClr val="585858"/>
                </a:solidFill>
                <a:latin typeface="Times New Roman"/>
                <a:cs typeface="Times New Roman"/>
              </a:rPr>
              <a:t>LLMs,</a:t>
            </a:r>
            <a:r>
              <a:rPr dirty="0" sz="1600" spc="35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1600" spc="95">
                <a:solidFill>
                  <a:srgbClr val="585858"/>
                </a:solidFill>
                <a:latin typeface="Times New Roman"/>
                <a:cs typeface="Times New Roman"/>
              </a:rPr>
              <a:t>code</a:t>
            </a:r>
            <a:r>
              <a:rPr dirty="0" sz="1600" spc="33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1600" spc="114">
                <a:solidFill>
                  <a:srgbClr val="585858"/>
                </a:solidFill>
                <a:latin typeface="Times New Roman"/>
                <a:cs typeface="Times New Roman"/>
              </a:rPr>
              <a:t>search,</a:t>
            </a:r>
            <a:r>
              <a:rPr dirty="0" sz="1600" spc="35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1600" spc="85">
                <a:solidFill>
                  <a:srgbClr val="585858"/>
                </a:solidFill>
                <a:latin typeface="Times New Roman"/>
                <a:cs typeface="Times New Roman"/>
              </a:rPr>
              <a:t>and</a:t>
            </a:r>
            <a:r>
              <a:rPr dirty="0" sz="1600" spc="335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1600" spc="110">
                <a:solidFill>
                  <a:srgbClr val="585858"/>
                </a:solidFill>
                <a:latin typeface="Times New Roman"/>
                <a:cs typeface="Times New Roman"/>
              </a:rPr>
              <a:t>program</a:t>
            </a:r>
            <a:r>
              <a:rPr dirty="0" sz="1600" spc="345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1600" spc="114">
                <a:solidFill>
                  <a:srgbClr val="585858"/>
                </a:solidFill>
                <a:latin typeface="Times New Roman"/>
                <a:cs typeface="Times New Roman"/>
              </a:rPr>
              <a:t>structure</a:t>
            </a:r>
            <a:r>
              <a:rPr dirty="0" sz="1600" spc="365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1600" spc="85">
                <a:solidFill>
                  <a:srgbClr val="585858"/>
                </a:solidFill>
                <a:latin typeface="Times New Roman"/>
                <a:cs typeface="Times New Roman"/>
              </a:rPr>
              <a:t>for</a:t>
            </a:r>
            <a:r>
              <a:rPr dirty="0" sz="1600" spc="32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1600" spc="120">
                <a:solidFill>
                  <a:srgbClr val="585858"/>
                </a:solidFill>
                <a:latin typeface="Times New Roman"/>
                <a:cs typeface="Times New Roman"/>
              </a:rPr>
              <a:t>autonomous</a:t>
            </a:r>
            <a:r>
              <a:rPr dirty="0" sz="1600" spc="365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1600" spc="110">
                <a:solidFill>
                  <a:srgbClr val="585858"/>
                </a:solidFill>
                <a:latin typeface="Times New Roman"/>
                <a:cs typeface="Times New Roman"/>
              </a:rPr>
              <a:t>program</a:t>
            </a:r>
            <a:r>
              <a:rPr dirty="0" sz="1600" spc="345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1600" spc="114">
                <a:solidFill>
                  <a:srgbClr val="585858"/>
                </a:solidFill>
                <a:latin typeface="Times New Roman"/>
                <a:cs typeface="Times New Roman"/>
              </a:rPr>
              <a:t>improvement.</a:t>
            </a:r>
            <a:endParaRPr sz="160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spcBef>
                <a:spcPts val="1570"/>
              </a:spcBef>
              <a:buFont typeface="Arial"/>
              <a:buChar char="•"/>
              <a:tabLst>
                <a:tab pos="240665" algn="l"/>
              </a:tabLst>
            </a:pPr>
            <a:r>
              <a:rPr dirty="0" sz="1600" spc="120">
                <a:solidFill>
                  <a:srgbClr val="585858"/>
                </a:solidFill>
                <a:latin typeface="Times New Roman"/>
                <a:cs typeface="Times New Roman"/>
              </a:rPr>
              <a:t>Generates</a:t>
            </a:r>
            <a:r>
              <a:rPr dirty="0" sz="1600" spc="355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1600" spc="125">
                <a:solidFill>
                  <a:srgbClr val="585858"/>
                </a:solidFill>
                <a:latin typeface="Times New Roman"/>
                <a:cs typeface="Times New Roman"/>
              </a:rPr>
              <a:t>modifications</a:t>
            </a:r>
            <a:r>
              <a:rPr dirty="0" sz="1600" spc="36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1600" spc="60">
                <a:solidFill>
                  <a:srgbClr val="585858"/>
                </a:solidFill>
                <a:latin typeface="Times New Roman"/>
                <a:cs typeface="Times New Roman"/>
              </a:rPr>
              <a:t>to</a:t>
            </a:r>
            <a:r>
              <a:rPr dirty="0" sz="1600" spc="32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1600" spc="110">
                <a:solidFill>
                  <a:srgbClr val="585858"/>
                </a:solidFill>
                <a:latin typeface="Times New Roman"/>
                <a:cs typeface="Times New Roman"/>
              </a:rPr>
              <a:t>improve</a:t>
            </a:r>
            <a:r>
              <a:rPr dirty="0" sz="1600" spc="36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1600" spc="114">
                <a:solidFill>
                  <a:srgbClr val="585858"/>
                </a:solidFill>
                <a:latin typeface="Times New Roman"/>
                <a:cs typeface="Times New Roman"/>
              </a:rPr>
              <a:t>existing</a:t>
            </a:r>
            <a:r>
              <a:rPr dirty="0" sz="1600" spc="35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1600" spc="110">
                <a:solidFill>
                  <a:srgbClr val="585858"/>
                </a:solidFill>
                <a:latin typeface="Times New Roman"/>
                <a:cs typeface="Times New Roman"/>
              </a:rPr>
              <a:t>source</a:t>
            </a:r>
            <a:r>
              <a:rPr dirty="0" sz="1600" spc="35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1600" spc="95">
                <a:solidFill>
                  <a:srgbClr val="585858"/>
                </a:solidFill>
                <a:latin typeface="Times New Roman"/>
                <a:cs typeface="Times New Roman"/>
              </a:rPr>
              <a:t>code.</a:t>
            </a:r>
            <a:endParaRPr sz="160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spcBef>
                <a:spcPts val="1585"/>
              </a:spcBef>
              <a:buFont typeface="Arial"/>
              <a:buChar char="•"/>
              <a:tabLst>
                <a:tab pos="240665" algn="l"/>
              </a:tabLst>
            </a:pPr>
            <a:r>
              <a:rPr dirty="0" sz="1600" spc="114">
                <a:solidFill>
                  <a:srgbClr val="585858"/>
                </a:solidFill>
                <a:latin typeface="Times New Roman"/>
                <a:cs typeface="Times New Roman"/>
              </a:rPr>
              <a:t>Supports</a:t>
            </a:r>
            <a:r>
              <a:rPr dirty="0" sz="1600" spc="35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1600" spc="85">
                <a:solidFill>
                  <a:srgbClr val="585858"/>
                </a:solidFill>
                <a:latin typeface="Times New Roman"/>
                <a:cs typeface="Times New Roman"/>
              </a:rPr>
              <a:t>the</a:t>
            </a:r>
            <a:r>
              <a:rPr dirty="0" sz="1600" spc="355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1600" spc="120" b="1">
                <a:solidFill>
                  <a:srgbClr val="585858"/>
                </a:solidFill>
                <a:latin typeface="Times New Roman"/>
                <a:cs typeface="Times New Roman"/>
              </a:rPr>
              <a:t>Refactoring</a:t>
            </a:r>
            <a:r>
              <a:rPr dirty="0" sz="1600" spc="285" b="1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1600" spc="105" b="1">
                <a:solidFill>
                  <a:srgbClr val="585858"/>
                </a:solidFill>
                <a:latin typeface="Times New Roman"/>
                <a:cs typeface="Times New Roman"/>
              </a:rPr>
              <a:t>Agent</a:t>
            </a:r>
            <a:r>
              <a:rPr dirty="0" sz="1600" spc="365" b="1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1600" spc="60">
                <a:solidFill>
                  <a:srgbClr val="585858"/>
                </a:solidFill>
                <a:latin typeface="Times New Roman"/>
                <a:cs typeface="Times New Roman"/>
              </a:rPr>
              <a:t>in</a:t>
            </a:r>
            <a:r>
              <a:rPr dirty="0" sz="1600" spc="32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1600" spc="85">
                <a:solidFill>
                  <a:srgbClr val="585858"/>
                </a:solidFill>
                <a:latin typeface="Times New Roman"/>
                <a:cs typeface="Times New Roman"/>
              </a:rPr>
              <a:t>the</a:t>
            </a:r>
            <a:r>
              <a:rPr dirty="0" sz="1600" spc="33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1600" spc="114">
                <a:solidFill>
                  <a:srgbClr val="585858"/>
                </a:solidFill>
                <a:latin typeface="Times New Roman"/>
                <a:cs typeface="Times New Roman"/>
              </a:rPr>
              <a:t>proposed</a:t>
            </a:r>
            <a:r>
              <a:rPr dirty="0" sz="1600" spc="345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1600" spc="105">
                <a:solidFill>
                  <a:srgbClr val="585858"/>
                </a:solidFill>
                <a:latin typeface="Times New Roman"/>
                <a:cs typeface="Times New Roman"/>
              </a:rPr>
              <a:t>system.</a:t>
            </a:r>
            <a:endParaRPr sz="1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0148" y="638378"/>
            <a:ext cx="10644505" cy="517144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11785" indent="-299085">
              <a:lnSpc>
                <a:spcPct val="100000"/>
              </a:lnSpc>
              <a:spcBef>
                <a:spcPts val="105"/>
              </a:spcBef>
              <a:buClr>
                <a:srgbClr val="585858"/>
              </a:buClr>
              <a:buSzPct val="106250"/>
              <a:buFont typeface="Arial"/>
              <a:buAutoNum type="arabicPeriod" startAt="4"/>
              <a:tabLst>
                <a:tab pos="311785" algn="l"/>
              </a:tabLst>
            </a:pPr>
            <a:r>
              <a:rPr dirty="0" sz="1600" spc="100" b="1">
                <a:solidFill>
                  <a:srgbClr val="585858"/>
                </a:solidFill>
                <a:latin typeface="Times New Roman"/>
                <a:cs typeface="Times New Roman"/>
              </a:rPr>
              <a:t>Code</a:t>
            </a:r>
            <a:r>
              <a:rPr dirty="0" sz="1600" spc="-260" b="1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1600" spc="105" b="1">
                <a:solidFill>
                  <a:srgbClr val="585858"/>
                </a:solidFill>
                <a:latin typeface="Times New Roman"/>
                <a:cs typeface="Times New Roman"/>
              </a:rPr>
              <a:t>Agent</a:t>
            </a:r>
            <a:r>
              <a:rPr dirty="0" sz="1600" spc="370" b="1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1600" b="1">
                <a:solidFill>
                  <a:srgbClr val="585858"/>
                </a:solidFill>
                <a:latin typeface="Times New Roman"/>
                <a:cs typeface="Times New Roman"/>
              </a:rPr>
              <a:t>—</a:t>
            </a:r>
            <a:r>
              <a:rPr dirty="0" sz="1600" spc="275" b="1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1600" b="1">
                <a:solidFill>
                  <a:srgbClr val="585858"/>
                </a:solidFill>
                <a:latin typeface="Times New Roman"/>
                <a:cs typeface="Times New Roman"/>
              </a:rPr>
              <a:t>Ta</a:t>
            </a:r>
            <a:r>
              <a:rPr dirty="0" sz="1600" spc="-254" b="1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1600" spc="65" b="1">
                <a:solidFill>
                  <a:srgbClr val="585858"/>
                </a:solidFill>
                <a:latin typeface="Times New Roman"/>
                <a:cs typeface="Times New Roman"/>
              </a:rPr>
              <a:t>ng</a:t>
            </a:r>
            <a:r>
              <a:rPr dirty="0" sz="1600" spc="300" b="1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1600" spc="60" b="1">
                <a:solidFill>
                  <a:srgbClr val="585858"/>
                </a:solidFill>
                <a:latin typeface="Times New Roman"/>
                <a:cs typeface="Times New Roman"/>
              </a:rPr>
              <a:t>et</a:t>
            </a:r>
            <a:r>
              <a:rPr dirty="0" sz="1600" spc="320" b="1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1600" spc="85" b="1">
                <a:solidFill>
                  <a:srgbClr val="585858"/>
                </a:solidFill>
                <a:latin typeface="Times New Roman"/>
                <a:cs typeface="Times New Roman"/>
              </a:rPr>
              <a:t>al.</a:t>
            </a:r>
            <a:r>
              <a:rPr dirty="0" sz="1600" spc="315" b="1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1600" spc="-10" b="1">
                <a:solidFill>
                  <a:srgbClr val="585858"/>
                </a:solidFill>
                <a:latin typeface="Times New Roman"/>
                <a:cs typeface="Times New Roman"/>
              </a:rPr>
              <a:t>(</a:t>
            </a:r>
            <a:r>
              <a:rPr dirty="0" sz="1600" spc="-265" b="1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1600" spc="100" b="1">
                <a:solidFill>
                  <a:srgbClr val="585858"/>
                </a:solidFill>
                <a:latin typeface="Times New Roman"/>
                <a:cs typeface="Times New Roman"/>
              </a:rPr>
              <a:t>2024</a:t>
            </a:r>
            <a:r>
              <a:rPr dirty="0" sz="1600" spc="-254" b="1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1600" spc="-50" b="1">
                <a:solidFill>
                  <a:srgbClr val="585858"/>
                </a:solidFill>
                <a:latin typeface="Times New Roman"/>
                <a:cs typeface="Times New Roman"/>
              </a:rPr>
              <a:t>)</a:t>
            </a:r>
            <a:endParaRPr sz="1600">
              <a:latin typeface="Times New Roman"/>
              <a:cs typeface="Times New Roman"/>
            </a:endParaRPr>
          </a:p>
          <a:p>
            <a:pPr lvl="1" marL="240665" indent="-227965">
              <a:lnSpc>
                <a:spcPct val="100000"/>
              </a:lnSpc>
              <a:spcBef>
                <a:spcPts val="1205"/>
              </a:spcBef>
              <a:buFont typeface="Arial"/>
              <a:buChar char="•"/>
              <a:tabLst>
                <a:tab pos="240665" algn="l"/>
              </a:tabLst>
            </a:pPr>
            <a:r>
              <a:rPr dirty="0" sz="1600" spc="110">
                <a:solidFill>
                  <a:srgbClr val="585858"/>
                </a:solidFill>
                <a:latin typeface="Times New Roman"/>
                <a:cs typeface="Times New Roman"/>
              </a:rPr>
              <a:t>Multi-</a:t>
            </a:r>
            <a:r>
              <a:rPr dirty="0" sz="1600" spc="-25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1600" spc="110">
                <a:solidFill>
                  <a:srgbClr val="585858"/>
                </a:solidFill>
                <a:latin typeface="Times New Roman"/>
                <a:cs typeface="Times New Roman"/>
              </a:rPr>
              <a:t>agent</a:t>
            </a:r>
            <a:r>
              <a:rPr dirty="0" sz="1600" spc="37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1600" spc="75">
                <a:solidFill>
                  <a:srgbClr val="585858"/>
                </a:solidFill>
                <a:latin typeface="Times New Roman"/>
                <a:cs typeface="Times New Roman"/>
              </a:rPr>
              <a:t>LLM</a:t>
            </a:r>
            <a:r>
              <a:rPr dirty="0" sz="1600" spc="325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1600" spc="114">
                <a:solidFill>
                  <a:srgbClr val="585858"/>
                </a:solidFill>
                <a:latin typeface="Times New Roman"/>
                <a:cs typeface="Times New Roman"/>
              </a:rPr>
              <a:t>framework</a:t>
            </a:r>
            <a:r>
              <a:rPr dirty="0" sz="1600" spc="375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1600" spc="85">
                <a:solidFill>
                  <a:srgbClr val="585858"/>
                </a:solidFill>
                <a:latin typeface="Times New Roman"/>
                <a:cs typeface="Times New Roman"/>
              </a:rPr>
              <a:t>for</a:t>
            </a:r>
            <a:r>
              <a:rPr dirty="0" sz="1600" spc="325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1600" spc="114">
                <a:solidFill>
                  <a:srgbClr val="585858"/>
                </a:solidFill>
                <a:latin typeface="Times New Roman"/>
                <a:cs typeface="Times New Roman"/>
              </a:rPr>
              <a:t>automated</a:t>
            </a:r>
            <a:r>
              <a:rPr dirty="0" sz="1600" spc="37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1600" spc="95">
                <a:solidFill>
                  <a:srgbClr val="585858"/>
                </a:solidFill>
                <a:latin typeface="Times New Roman"/>
                <a:cs typeface="Times New Roman"/>
              </a:rPr>
              <a:t>code</a:t>
            </a:r>
            <a:r>
              <a:rPr dirty="0" sz="1600" spc="335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1600" spc="85">
                <a:solidFill>
                  <a:srgbClr val="585858"/>
                </a:solidFill>
                <a:latin typeface="Times New Roman"/>
                <a:cs typeface="Times New Roman"/>
              </a:rPr>
              <a:t>review.</a:t>
            </a:r>
            <a:endParaRPr sz="1600">
              <a:latin typeface="Times New Roman"/>
              <a:cs typeface="Times New Roman"/>
            </a:endParaRPr>
          </a:p>
          <a:p>
            <a:pPr lvl="1" marL="240665" indent="-227965">
              <a:lnSpc>
                <a:spcPct val="100000"/>
              </a:lnSpc>
              <a:spcBef>
                <a:spcPts val="1190"/>
              </a:spcBef>
              <a:buFont typeface="Arial"/>
              <a:buChar char="•"/>
              <a:tabLst>
                <a:tab pos="240665" algn="l"/>
              </a:tabLst>
            </a:pPr>
            <a:r>
              <a:rPr dirty="0" sz="1600" spc="120">
                <a:solidFill>
                  <a:srgbClr val="585858"/>
                </a:solidFill>
                <a:latin typeface="Times New Roman"/>
                <a:cs typeface="Times New Roman"/>
              </a:rPr>
              <a:t>Identifies</a:t>
            </a:r>
            <a:r>
              <a:rPr dirty="0" sz="1600" spc="36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1600" spc="130">
                <a:solidFill>
                  <a:srgbClr val="585858"/>
                </a:solidFill>
                <a:latin typeface="Times New Roman"/>
                <a:cs typeface="Times New Roman"/>
              </a:rPr>
              <a:t>vulnerabilities,</a:t>
            </a:r>
            <a:r>
              <a:rPr dirty="0" sz="1600" spc="355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1600" spc="130">
                <a:solidFill>
                  <a:srgbClr val="585858"/>
                </a:solidFill>
                <a:latin typeface="Times New Roman"/>
                <a:cs typeface="Times New Roman"/>
              </a:rPr>
              <a:t>inconsistencies,</a:t>
            </a:r>
            <a:r>
              <a:rPr dirty="0" sz="1600" spc="36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1600" spc="85">
                <a:solidFill>
                  <a:srgbClr val="585858"/>
                </a:solidFill>
                <a:latin typeface="Times New Roman"/>
                <a:cs typeface="Times New Roman"/>
              </a:rPr>
              <a:t>and</a:t>
            </a:r>
            <a:r>
              <a:rPr dirty="0" sz="1600" spc="32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1600" spc="110">
                <a:solidFill>
                  <a:srgbClr val="585858"/>
                </a:solidFill>
                <a:latin typeface="Times New Roman"/>
                <a:cs typeface="Times New Roman"/>
              </a:rPr>
              <a:t>coding</a:t>
            </a:r>
            <a:r>
              <a:rPr dirty="0" sz="1600" spc="-15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1600" spc="-20">
                <a:solidFill>
                  <a:srgbClr val="585858"/>
                </a:solidFill>
                <a:latin typeface="Times New Roman"/>
                <a:cs typeface="Times New Roman"/>
              </a:rPr>
              <a:t>-</a:t>
            </a:r>
            <a:r>
              <a:rPr dirty="0" sz="1600" spc="-26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1600" spc="110">
                <a:solidFill>
                  <a:srgbClr val="585858"/>
                </a:solidFill>
                <a:latin typeface="Times New Roman"/>
                <a:cs typeface="Times New Roman"/>
              </a:rPr>
              <a:t>style</a:t>
            </a:r>
            <a:r>
              <a:rPr dirty="0" sz="1600" spc="365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1600" spc="110">
                <a:solidFill>
                  <a:srgbClr val="585858"/>
                </a:solidFill>
                <a:latin typeface="Times New Roman"/>
                <a:cs typeface="Times New Roman"/>
              </a:rPr>
              <a:t>violations.</a:t>
            </a:r>
            <a:endParaRPr sz="1600">
              <a:latin typeface="Times New Roman"/>
              <a:cs typeface="Times New Roman"/>
            </a:endParaRPr>
          </a:p>
          <a:p>
            <a:pPr lvl="1" marL="240665" indent="-227965">
              <a:lnSpc>
                <a:spcPct val="100000"/>
              </a:lnSpc>
              <a:spcBef>
                <a:spcPts val="1185"/>
              </a:spcBef>
              <a:buFont typeface="Arial"/>
              <a:buChar char="•"/>
              <a:tabLst>
                <a:tab pos="240665" algn="l"/>
              </a:tabLst>
            </a:pPr>
            <a:r>
              <a:rPr dirty="0" sz="1600" spc="114">
                <a:solidFill>
                  <a:srgbClr val="585858"/>
                </a:solidFill>
                <a:latin typeface="Times New Roman"/>
                <a:cs typeface="Times New Roman"/>
              </a:rPr>
              <a:t>Supports</a:t>
            </a:r>
            <a:r>
              <a:rPr dirty="0" sz="1600" spc="36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1600" spc="114">
                <a:solidFill>
                  <a:srgbClr val="585858"/>
                </a:solidFill>
                <a:latin typeface="Times New Roman"/>
                <a:cs typeface="Times New Roman"/>
              </a:rPr>
              <a:t>automated</a:t>
            </a:r>
            <a:r>
              <a:rPr dirty="0" sz="1600" spc="409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1600" spc="110" b="1">
                <a:solidFill>
                  <a:srgbClr val="585858"/>
                </a:solidFill>
                <a:latin typeface="Times New Roman"/>
                <a:cs typeface="Times New Roman"/>
              </a:rPr>
              <a:t>quality</a:t>
            </a:r>
            <a:r>
              <a:rPr dirty="0" sz="1600" spc="380" b="1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1600" spc="90" b="1">
                <a:solidFill>
                  <a:srgbClr val="585858"/>
                </a:solidFill>
                <a:latin typeface="Times New Roman"/>
                <a:cs typeface="Times New Roman"/>
              </a:rPr>
              <a:t>and</a:t>
            </a:r>
            <a:r>
              <a:rPr dirty="0" sz="1600" spc="325" b="1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1600" spc="114" b="1">
                <a:solidFill>
                  <a:srgbClr val="585858"/>
                </a:solidFill>
                <a:latin typeface="Times New Roman"/>
                <a:cs typeface="Times New Roman"/>
              </a:rPr>
              <a:t>security</a:t>
            </a:r>
            <a:r>
              <a:rPr dirty="0" sz="1600" spc="380" b="1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1600" spc="114" b="1">
                <a:solidFill>
                  <a:srgbClr val="585858"/>
                </a:solidFill>
                <a:latin typeface="Times New Roman"/>
                <a:cs typeface="Times New Roman"/>
              </a:rPr>
              <a:t>analysis</a:t>
            </a:r>
            <a:r>
              <a:rPr dirty="0" sz="1600" spc="415" b="1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1600" spc="110">
                <a:solidFill>
                  <a:srgbClr val="585858"/>
                </a:solidFill>
                <a:latin typeface="Times New Roman"/>
                <a:cs typeface="Times New Roman"/>
              </a:rPr>
              <a:t>through</a:t>
            </a:r>
            <a:r>
              <a:rPr dirty="0" sz="1600" spc="355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1600" spc="120">
                <a:solidFill>
                  <a:srgbClr val="585858"/>
                </a:solidFill>
                <a:latin typeface="Times New Roman"/>
                <a:cs typeface="Times New Roman"/>
              </a:rPr>
              <a:t>specialized</a:t>
            </a:r>
            <a:r>
              <a:rPr dirty="0" sz="1600" spc="38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1600" spc="105">
                <a:solidFill>
                  <a:srgbClr val="585858"/>
                </a:solidFill>
                <a:latin typeface="Times New Roman"/>
                <a:cs typeface="Times New Roman"/>
              </a:rPr>
              <a:t>agents.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dirty="0" sz="1600" spc="-10" b="1">
                <a:solidFill>
                  <a:srgbClr val="585858"/>
                </a:solidFill>
                <a:latin typeface="Times New Roman"/>
                <a:cs typeface="Times New Roman"/>
              </a:rPr>
              <a:t>5</a:t>
            </a:r>
            <a:r>
              <a:rPr dirty="0" sz="1600" spc="-254" b="1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1600" b="1">
                <a:solidFill>
                  <a:srgbClr val="585858"/>
                </a:solidFill>
                <a:latin typeface="Times New Roman"/>
                <a:cs typeface="Times New Roman"/>
              </a:rPr>
              <a:t>.</a:t>
            </a:r>
            <a:r>
              <a:rPr dirty="0" sz="1600" spc="310" b="1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1600" spc="100" b="1">
                <a:solidFill>
                  <a:srgbClr val="585858"/>
                </a:solidFill>
                <a:latin typeface="Times New Roman"/>
                <a:cs typeface="Times New Roman"/>
              </a:rPr>
              <a:t>Chat</a:t>
            </a:r>
            <a:r>
              <a:rPr dirty="0" sz="1600" spc="-265" b="1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1600" spc="90" b="1">
                <a:solidFill>
                  <a:srgbClr val="585858"/>
                </a:solidFill>
                <a:latin typeface="Times New Roman"/>
                <a:cs typeface="Times New Roman"/>
              </a:rPr>
              <a:t>Uni</a:t>
            </a:r>
            <a:r>
              <a:rPr dirty="0" sz="1600" spc="-260" b="1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1600" spc="70" b="1">
                <a:solidFill>
                  <a:srgbClr val="585858"/>
                </a:solidFill>
                <a:latin typeface="Times New Roman"/>
                <a:cs typeface="Times New Roman"/>
              </a:rPr>
              <a:t>Test</a:t>
            </a:r>
            <a:r>
              <a:rPr dirty="0" sz="1600" spc="370" b="1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1600" b="1">
                <a:solidFill>
                  <a:srgbClr val="585858"/>
                </a:solidFill>
                <a:latin typeface="Times New Roman"/>
                <a:cs typeface="Times New Roman"/>
              </a:rPr>
              <a:t>—</a:t>
            </a:r>
            <a:r>
              <a:rPr dirty="0" sz="1600" spc="310" b="1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1600" spc="100" b="1">
                <a:solidFill>
                  <a:srgbClr val="585858"/>
                </a:solidFill>
                <a:latin typeface="Times New Roman"/>
                <a:cs typeface="Times New Roman"/>
              </a:rPr>
              <a:t>Chen</a:t>
            </a:r>
            <a:r>
              <a:rPr dirty="0" sz="1600" spc="320" b="1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1600" spc="60" b="1">
                <a:solidFill>
                  <a:srgbClr val="585858"/>
                </a:solidFill>
                <a:latin typeface="Times New Roman"/>
                <a:cs typeface="Times New Roman"/>
              </a:rPr>
              <a:t>et</a:t>
            </a:r>
            <a:r>
              <a:rPr dirty="0" sz="1600" spc="315" b="1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1600" spc="85" b="1">
                <a:solidFill>
                  <a:srgbClr val="585858"/>
                </a:solidFill>
                <a:latin typeface="Times New Roman"/>
                <a:cs typeface="Times New Roman"/>
              </a:rPr>
              <a:t>al.</a:t>
            </a:r>
            <a:r>
              <a:rPr dirty="0" sz="1600" spc="315" b="1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1600" spc="-10" b="1">
                <a:solidFill>
                  <a:srgbClr val="585858"/>
                </a:solidFill>
                <a:latin typeface="Times New Roman"/>
                <a:cs typeface="Times New Roman"/>
              </a:rPr>
              <a:t>(</a:t>
            </a:r>
            <a:r>
              <a:rPr dirty="0" sz="1600" spc="-265" b="1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1600" spc="100" b="1">
                <a:solidFill>
                  <a:srgbClr val="585858"/>
                </a:solidFill>
                <a:latin typeface="Times New Roman"/>
                <a:cs typeface="Times New Roman"/>
              </a:rPr>
              <a:t>2024</a:t>
            </a:r>
            <a:r>
              <a:rPr dirty="0" sz="1600" spc="-250" b="1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1600" spc="-50" b="1">
                <a:solidFill>
                  <a:srgbClr val="585858"/>
                </a:solidFill>
                <a:latin typeface="Times New Roman"/>
                <a:cs typeface="Times New Roman"/>
              </a:rPr>
              <a:t>)</a:t>
            </a:r>
            <a:endParaRPr sz="160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spcBef>
                <a:spcPts val="1195"/>
              </a:spcBef>
              <a:buFont typeface="Arial"/>
              <a:buChar char="•"/>
              <a:tabLst>
                <a:tab pos="240665" algn="l"/>
              </a:tabLst>
            </a:pPr>
            <a:r>
              <a:rPr dirty="0" sz="1600" spc="90">
                <a:solidFill>
                  <a:srgbClr val="585858"/>
                </a:solidFill>
                <a:latin typeface="Times New Roman"/>
                <a:cs typeface="Times New Roman"/>
              </a:rPr>
              <a:t>LLM-</a:t>
            </a:r>
            <a:r>
              <a:rPr dirty="0" sz="1600" spc="-26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1600" spc="110">
                <a:solidFill>
                  <a:srgbClr val="585858"/>
                </a:solidFill>
                <a:latin typeface="Times New Roman"/>
                <a:cs typeface="Times New Roman"/>
              </a:rPr>
              <a:t>based</a:t>
            </a:r>
            <a:r>
              <a:rPr dirty="0" sz="1600" spc="385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1600" spc="114">
                <a:solidFill>
                  <a:srgbClr val="585858"/>
                </a:solidFill>
                <a:latin typeface="Times New Roman"/>
                <a:cs typeface="Times New Roman"/>
              </a:rPr>
              <a:t>framework</a:t>
            </a:r>
            <a:r>
              <a:rPr dirty="0" sz="1600" spc="37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1600" spc="85">
                <a:solidFill>
                  <a:srgbClr val="585858"/>
                </a:solidFill>
                <a:latin typeface="Times New Roman"/>
                <a:cs typeface="Times New Roman"/>
              </a:rPr>
              <a:t>for</a:t>
            </a:r>
            <a:r>
              <a:rPr dirty="0" sz="1600" spc="335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1600" spc="114">
                <a:solidFill>
                  <a:srgbClr val="585858"/>
                </a:solidFill>
                <a:latin typeface="Times New Roman"/>
                <a:cs typeface="Times New Roman"/>
              </a:rPr>
              <a:t>automated</a:t>
            </a:r>
            <a:r>
              <a:rPr dirty="0" sz="1600" spc="38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1600" spc="95">
                <a:solidFill>
                  <a:srgbClr val="585858"/>
                </a:solidFill>
                <a:latin typeface="Times New Roman"/>
                <a:cs typeface="Times New Roman"/>
              </a:rPr>
              <a:t>unit</a:t>
            </a:r>
            <a:r>
              <a:rPr dirty="0" sz="1600" spc="-195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1600" spc="-20">
                <a:solidFill>
                  <a:srgbClr val="585858"/>
                </a:solidFill>
                <a:latin typeface="Times New Roman"/>
                <a:cs typeface="Times New Roman"/>
              </a:rPr>
              <a:t>-</a:t>
            </a:r>
            <a:r>
              <a:rPr dirty="0" sz="1600" spc="-254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1600" spc="100">
                <a:solidFill>
                  <a:srgbClr val="585858"/>
                </a:solidFill>
                <a:latin typeface="Times New Roman"/>
                <a:cs typeface="Times New Roman"/>
              </a:rPr>
              <a:t>test</a:t>
            </a:r>
            <a:r>
              <a:rPr dirty="0" sz="1600" spc="365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1600" spc="110">
                <a:solidFill>
                  <a:srgbClr val="585858"/>
                </a:solidFill>
                <a:latin typeface="Times New Roman"/>
                <a:cs typeface="Times New Roman"/>
              </a:rPr>
              <a:t>generation.</a:t>
            </a:r>
            <a:endParaRPr sz="160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spcBef>
                <a:spcPts val="1185"/>
              </a:spcBef>
              <a:buFont typeface="Arial"/>
              <a:buChar char="•"/>
              <a:tabLst>
                <a:tab pos="240665" algn="l"/>
              </a:tabLst>
            </a:pPr>
            <a:r>
              <a:rPr dirty="0" sz="1600" spc="100">
                <a:solidFill>
                  <a:srgbClr val="585858"/>
                </a:solidFill>
                <a:latin typeface="Times New Roman"/>
                <a:cs typeface="Times New Roman"/>
              </a:rPr>
              <a:t>Uses</a:t>
            </a:r>
            <a:r>
              <a:rPr dirty="0" sz="1600" spc="335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1600" spc="95">
                <a:solidFill>
                  <a:srgbClr val="585858"/>
                </a:solidFill>
                <a:latin typeface="Times New Roman"/>
                <a:cs typeface="Times New Roman"/>
              </a:rPr>
              <a:t>code</a:t>
            </a:r>
            <a:r>
              <a:rPr dirty="0" sz="1600" spc="335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1600" spc="110">
                <a:solidFill>
                  <a:srgbClr val="585858"/>
                </a:solidFill>
                <a:latin typeface="Times New Roman"/>
                <a:cs typeface="Times New Roman"/>
              </a:rPr>
              <a:t>context</a:t>
            </a:r>
            <a:r>
              <a:rPr dirty="0" sz="1600" spc="36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1600" spc="95">
                <a:solidFill>
                  <a:srgbClr val="585858"/>
                </a:solidFill>
                <a:latin typeface="Times New Roman"/>
                <a:cs typeface="Times New Roman"/>
              </a:rPr>
              <a:t>with</a:t>
            </a:r>
            <a:r>
              <a:rPr dirty="0" sz="1600" spc="355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1600" spc="120">
                <a:solidFill>
                  <a:srgbClr val="585858"/>
                </a:solidFill>
                <a:latin typeface="Times New Roman"/>
                <a:cs typeface="Times New Roman"/>
              </a:rPr>
              <a:t>generation,</a:t>
            </a:r>
            <a:r>
              <a:rPr dirty="0" sz="1600" spc="365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1600" spc="120">
                <a:solidFill>
                  <a:srgbClr val="585858"/>
                </a:solidFill>
                <a:latin typeface="Times New Roman"/>
                <a:cs typeface="Times New Roman"/>
              </a:rPr>
              <a:t>validation,</a:t>
            </a:r>
            <a:r>
              <a:rPr dirty="0" sz="1600" spc="37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1600" spc="85">
                <a:solidFill>
                  <a:srgbClr val="585858"/>
                </a:solidFill>
                <a:latin typeface="Times New Roman"/>
                <a:cs typeface="Times New Roman"/>
              </a:rPr>
              <a:t>and</a:t>
            </a:r>
            <a:r>
              <a:rPr dirty="0" sz="1600" spc="33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1600" spc="105">
                <a:solidFill>
                  <a:srgbClr val="585858"/>
                </a:solidFill>
                <a:latin typeface="Times New Roman"/>
                <a:cs typeface="Times New Roman"/>
              </a:rPr>
              <a:t>repair</a:t>
            </a:r>
            <a:r>
              <a:rPr dirty="0" sz="1600" spc="365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1600" spc="114">
                <a:solidFill>
                  <a:srgbClr val="585858"/>
                </a:solidFill>
                <a:latin typeface="Times New Roman"/>
                <a:cs typeface="Times New Roman"/>
              </a:rPr>
              <a:t>mechanisms.</a:t>
            </a:r>
            <a:endParaRPr sz="160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spcBef>
                <a:spcPts val="1200"/>
              </a:spcBef>
              <a:buFont typeface="Arial"/>
              <a:buChar char="•"/>
              <a:tabLst>
                <a:tab pos="240665" algn="l"/>
              </a:tabLst>
            </a:pPr>
            <a:r>
              <a:rPr dirty="0" sz="1600" spc="114">
                <a:solidFill>
                  <a:srgbClr val="585858"/>
                </a:solidFill>
                <a:latin typeface="Times New Roman"/>
                <a:cs typeface="Times New Roman"/>
              </a:rPr>
              <a:t>Supports</a:t>
            </a:r>
            <a:r>
              <a:rPr dirty="0" sz="1600" spc="35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1600" spc="85">
                <a:solidFill>
                  <a:srgbClr val="585858"/>
                </a:solidFill>
                <a:latin typeface="Times New Roman"/>
                <a:cs typeface="Times New Roman"/>
              </a:rPr>
              <a:t>the</a:t>
            </a:r>
            <a:r>
              <a:rPr dirty="0" sz="1600" spc="355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1600" spc="60" b="1">
                <a:solidFill>
                  <a:srgbClr val="585858"/>
                </a:solidFill>
                <a:latin typeface="Times New Roman"/>
                <a:cs typeface="Times New Roman"/>
              </a:rPr>
              <a:t>Test</a:t>
            </a:r>
            <a:r>
              <a:rPr dirty="0" sz="1600" spc="325" b="1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1600" spc="120" b="1">
                <a:solidFill>
                  <a:srgbClr val="585858"/>
                </a:solidFill>
                <a:latin typeface="Times New Roman"/>
                <a:cs typeface="Times New Roman"/>
              </a:rPr>
              <a:t>Generation</a:t>
            </a:r>
            <a:r>
              <a:rPr dirty="0" sz="1600" spc="270" b="1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1600" spc="105" b="1">
                <a:solidFill>
                  <a:srgbClr val="585858"/>
                </a:solidFill>
                <a:latin typeface="Times New Roman"/>
                <a:cs typeface="Times New Roman"/>
              </a:rPr>
              <a:t>Agent</a:t>
            </a:r>
            <a:r>
              <a:rPr dirty="0" sz="1600" spc="370" b="1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1600" spc="60">
                <a:solidFill>
                  <a:srgbClr val="585858"/>
                </a:solidFill>
                <a:latin typeface="Times New Roman"/>
                <a:cs typeface="Times New Roman"/>
              </a:rPr>
              <a:t>of</a:t>
            </a:r>
            <a:r>
              <a:rPr dirty="0" sz="1600" spc="325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1600" spc="85">
                <a:solidFill>
                  <a:srgbClr val="585858"/>
                </a:solidFill>
                <a:latin typeface="Times New Roman"/>
                <a:cs typeface="Times New Roman"/>
              </a:rPr>
              <a:t>the</a:t>
            </a:r>
            <a:r>
              <a:rPr dirty="0" sz="1600" spc="33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1600" spc="114">
                <a:solidFill>
                  <a:srgbClr val="585858"/>
                </a:solidFill>
                <a:latin typeface="Times New Roman"/>
                <a:cs typeface="Times New Roman"/>
              </a:rPr>
              <a:t>proposed</a:t>
            </a:r>
            <a:r>
              <a:rPr dirty="0" sz="1600" spc="345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1600" spc="105">
                <a:solidFill>
                  <a:srgbClr val="585858"/>
                </a:solidFill>
                <a:latin typeface="Times New Roman"/>
                <a:cs typeface="Times New Roman"/>
              </a:rPr>
              <a:t>system.</a:t>
            </a: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buClr>
                <a:srgbClr val="585858"/>
              </a:buClr>
              <a:buFont typeface="Arial"/>
              <a:buChar char="•"/>
            </a:pP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20"/>
              </a:spcBef>
              <a:buClr>
                <a:srgbClr val="585858"/>
              </a:buClr>
              <a:buFont typeface="Arial"/>
              <a:buChar char="•"/>
            </a:pPr>
            <a:endParaRPr sz="1600">
              <a:latin typeface="Times New Roman"/>
              <a:cs typeface="Times New Roman"/>
            </a:endParaRPr>
          </a:p>
          <a:p>
            <a:pPr marL="82550">
              <a:lnSpc>
                <a:spcPct val="100000"/>
              </a:lnSpc>
            </a:pPr>
            <a:r>
              <a:rPr dirty="0" sz="1600" spc="120" b="1">
                <a:solidFill>
                  <a:srgbClr val="585858"/>
                </a:solidFill>
                <a:latin typeface="Times New Roman"/>
                <a:cs typeface="Times New Roman"/>
              </a:rPr>
              <a:t>RESEARCH</a:t>
            </a:r>
            <a:r>
              <a:rPr dirty="0" sz="1600" spc="335" b="1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1600" spc="80" b="1">
                <a:solidFill>
                  <a:srgbClr val="585858"/>
                </a:solidFill>
                <a:latin typeface="Times New Roman"/>
                <a:cs typeface="Times New Roman"/>
              </a:rPr>
              <a:t>GAP</a:t>
            </a:r>
            <a:r>
              <a:rPr dirty="0" sz="1600" spc="245" b="1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1600" spc="-50" b="1">
                <a:solidFill>
                  <a:srgbClr val="585858"/>
                </a:solidFill>
                <a:latin typeface="Times New Roman"/>
                <a:cs typeface="Times New Roman"/>
              </a:rPr>
              <a:t>:</a:t>
            </a:r>
            <a:endParaRPr sz="1600">
              <a:latin typeface="Times New Roman"/>
              <a:cs typeface="Times New Roman"/>
            </a:endParaRPr>
          </a:p>
          <a:p>
            <a:pPr marL="241300" marR="5080" indent="-228600">
              <a:lnSpc>
                <a:spcPct val="110000"/>
              </a:lnSpc>
              <a:spcBef>
                <a:spcPts val="1005"/>
              </a:spcBef>
              <a:buFont typeface="Arial"/>
              <a:buChar char="•"/>
              <a:tabLst>
                <a:tab pos="241300" algn="l"/>
              </a:tabLst>
            </a:pPr>
            <a:r>
              <a:rPr dirty="0" sz="1600" spc="114">
                <a:solidFill>
                  <a:srgbClr val="585858"/>
                </a:solidFill>
                <a:latin typeface="Times New Roman"/>
                <a:cs typeface="Times New Roman"/>
              </a:rPr>
              <a:t>Existing</a:t>
            </a:r>
            <a:r>
              <a:rPr dirty="0" sz="1600" spc="37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1600" spc="110">
                <a:solidFill>
                  <a:srgbClr val="585858"/>
                </a:solidFill>
                <a:latin typeface="Times New Roman"/>
                <a:cs typeface="Times New Roman"/>
              </a:rPr>
              <a:t>studies</a:t>
            </a:r>
            <a:r>
              <a:rPr dirty="0" sz="1600" spc="36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1600" spc="110">
                <a:solidFill>
                  <a:srgbClr val="585858"/>
                </a:solidFill>
                <a:latin typeface="Times New Roman"/>
                <a:cs typeface="Times New Roman"/>
              </a:rPr>
              <a:t>mainly</a:t>
            </a:r>
            <a:r>
              <a:rPr dirty="0" sz="1600" spc="365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1600" spc="105">
                <a:solidFill>
                  <a:srgbClr val="585858"/>
                </a:solidFill>
                <a:latin typeface="Times New Roman"/>
                <a:cs typeface="Times New Roman"/>
              </a:rPr>
              <a:t>focus</a:t>
            </a:r>
            <a:r>
              <a:rPr dirty="0" sz="1600" spc="335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1600" spc="60">
                <a:solidFill>
                  <a:srgbClr val="585858"/>
                </a:solidFill>
                <a:latin typeface="Times New Roman"/>
                <a:cs typeface="Times New Roman"/>
              </a:rPr>
              <a:t>on</a:t>
            </a:r>
            <a:r>
              <a:rPr dirty="0" sz="1600" spc="37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1600" spc="125" b="1">
                <a:solidFill>
                  <a:srgbClr val="585858"/>
                </a:solidFill>
                <a:latin typeface="Times New Roman"/>
                <a:cs typeface="Times New Roman"/>
              </a:rPr>
              <a:t>individual</a:t>
            </a:r>
            <a:r>
              <a:rPr dirty="0" sz="1600" spc="375" b="1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1600" spc="105" b="1">
                <a:solidFill>
                  <a:srgbClr val="585858"/>
                </a:solidFill>
                <a:latin typeface="Times New Roman"/>
                <a:cs typeface="Times New Roman"/>
              </a:rPr>
              <a:t>code-</a:t>
            </a:r>
            <a:r>
              <a:rPr dirty="0" sz="1600" spc="-254" b="1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1600" spc="105" b="1">
                <a:solidFill>
                  <a:srgbClr val="585858"/>
                </a:solidFill>
                <a:latin typeface="Times New Roman"/>
                <a:cs typeface="Times New Roman"/>
              </a:rPr>
              <a:t>review,</a:t>
            </a:r>
            <a:r>
              <a:rPr dirty="0" sz="1600" spc="340" b="1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1600" spc="120" b="1">
                <a:solidFill>
                  <a:srgbClr val="585858"/>
                </a:solidFill>
                <a:latin typeface="Times New Roman"/>
                <a:cs typeface="Times New Roman"/>
              </a:rPr>
              <a:t>refactoring,</a:t>
            </a:r>
            <a:r>
              <a:rPr dirty="0" sz="1600" spc="365" b="1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1600" spc="114" b="1">
                <a:solidFill>
                  <a:srgbClr val="585858"/>
                </a:solidFill>
                <a:latin typeface="Times New Roman"/>
                <a:cs typeface="Times New Roman"/>
              </a:rPr>
              <a:t>multi-</a:t>
            </a:r>
            <a:r>
              <a:rPr dirty="0" sz="1600" spc="-250" b="1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1600" spc="114" b="1">
                <a:solidFill>
                  <a:srgbClr val="585858"/>
                </a:solidFill>
                <a:latin typeface="Times New Roman"/>
                <a:cs typeface="Times New Roman"/>
              </a:rPr>
              <a:t>agent,</a:t>
            </a:r>
            <a:r>
              <a:rPr dirty="0" sz="1600" spc="365" b="1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1600" spc="60" b="1">
                <a:solidFill>
                  <a:srgbClr val="585858"/>
                </a:solidFill>
                <a:latin typeface="Times New Roman"/>
                <a:cs typeface="Times New Roman"/>
              </a:rPr>
              <a:t>or</a:t>
            </a:r>
            <a:r>
              <a:rPr dirty="0" sz="1600" spc="300" b="1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1600" spc="105" b="1">
                <a:solidFill>
                  <a:srgbClr val="585858"/>
                </a:solidFill>
                <a:latin typeface="Times New Roman"/>
                <a:cs typeface="Times New Roman"/>
              </a:rPr>
              <a:t>test-</a:t>
            </a:r>
            <a:r>
              <a:rPr dirty="0" sz="1600" spc="-260" b="1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1600" spc="114" b="1">
                <a:solidFill>
                  <a:srgbClr val="585858"/>
                </a:solidFill>
                <a:latin typeface="Times New Roman"/>
                <a:cs typeface="Times New Roman"/>
              </a:rPr>
              <a:t>generation </a:t>
            </a:r>
            <a:r>
              <a:rPr dirty="0" sz="1600" spc="100" b="1">
                <a:solidFill>
                  <a:srgbClr val="585858"/>
                </a:solidFill>
                <a:latin typeface="Times New Roman"/>
                <a:cs typeface="Times New Roman"/>
              </a:rPr>
              <a:t>tasks</a:t>
            </a:r>
            <a:r>
              <a:rPr dirty="0" sz="1600" spc="-229" b="1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1600" spc="-50">
                <a:solidFill>
                  <a:srgbClr val="585858"/>
                </a:solidFill>
                <a:latin typeface="Times New Roman"/>
                <a:cs typeface="Times New Roman"/>
              </a:rPr>
              <a:t>.</a:t>
            </a:r>
            <a:endParaRPr sz="160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spcBef>
                <a:spcPts val="1190"/>
              </a:spcBef>
              <a:buFont typeface="Arial"/>
              <a:buChar char="•"/>
              <a:tabLst>
                <a:tab pos="240665" algn="l"/>
              </a:tabLst>
            </a:pPr>
            <a:r>
              <a:rPr dirty="0" sz="1600" spc="85">
                <a:solidFill>
                  <a:srgbClr val="585858"/>
                </a:solidFill>
                <a:latin typeface="Times New Roman"/>
                <a:cs typeface="Times New Roman"/>
              </a:rPr>
              <a:t>The</a:t>
            </a:r>
            <a:r>
              <a:rPr dirty="0" sz="1600" spc="315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1600" spc="114">
                <a:solidFill>
                  <a:srgbClr val="585858"/>
                </a:solidFill>
                <a:latin typeface="Times New Roman"/>
                <a:cs typeface="Times New Roman"/>
              </a:rPr>
              <a:t>proposed</a:t>
            </a:r>
            <a:r>
              <a:rPr dirty="0" sz="1600" spc="345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1600" spc="105">
                <a:solidFill>
                  <a:srgbClr val="585858"/>
                </a:solidFill>
                <a:latin typeface="Times New Roman"/>
                <a:cs typeface="Times New Roman"/>
              </a:rPr>
              <a:t>system</a:t>
            </a:r>
            <a:r>
              <a:rPr dirty="0" sz="1600" spc="36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1600" spc="120">
                <a:solidFill>
                  <a:srgbClr val="585858"/>
                </a:solidFill>
                <a:latin typeface="Times New Roman"/>
                <a:cs typeface="Times New Roman"/>
              </a:rPr>
              <a:t>integrates</a:t>
            </a:r>
            <a:r>
              <a:rPr dirty="0" sz="1600" spc="36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1600" spc="105">
                <a:solidFill>
                  <a:srgbClr val="585858"/>
                </a:solidFill>
                <a:latin typeface="Times New Roman"/>
                <a:cs typeface="Times New Roman"/>
              </a:rPr>
              <a:t>these</a:t>
            </a:r>
            <a:r>
              <a:rPr dirty="0" sz="1600" spc="35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1600" spc="120">
                <a:solidFill>
                  <a:srgbClr val="585858"/>
                </a:solidFill>
                <a:latin typeface="Times New Roman"/>
                <a:cs typeface="Times New Roman"/>
              </a:rPr>
              <a:t>capabilities</a:t>
            </a:r>
            <a:r>
              <a:rPr dirty="0" sz="1600" spc="37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1600" spc="95">
                <a:solidFill>
                  <a:srgbClr val="585858"/>
                </a:solidFill>
                <a:latin typeface="Times New Roman"/>
                <a:cs typeface="Times New Roman"/>
              </a:rPr>
              <a:t>into</a:t>
            </a:r>
            <a:r>
              <a:rPr dirty="0" sz="1600" spc="335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1600">
                <a:solidFill>
                  <a:srgbClr val="585858"/>
                </a:solidFill>
                <a:latin typeface="Times New Roman"/>
                <a:cs typeface="Times New Roman"/>
              </a:rPr>
              <a:t>a</a:t>
            </a:r>
            <a:r>
              <a:rPr dirty="0" sz="1600" spc="42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1600" spc="110" b="1">
                <a:solidFill>
                  <a:srgbClr val="585858"/>
                </a:solidFill>
                <a:latin typeface="Times New Roman"/>
                <a:cs typeface="Times New Roman"/>
              </a:rPr>
              <a:t>single</a:t>
            </a:r>
            <a:r>
              <a:rPr dirty="0" sz="1600" spc="365" b="1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1600" spc="125" b="1">
                <a:solidFill>
                  <a:srgbClr val="585858"/>
                </a:solidFill>
                <a:latin typeface="Times New Roman"/>
                <a:cs typeface="Times New Roman"/>
              </a:rPr>
              <a:t>coordinated</a:t>
            </a:r>
            <a:r>
              <a:rPr dirty="0" sz="1600" spc="355" b="1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1600" spc="120" b="1">
                <a:solidFill>
                  <a:srgbClr val="585858"/>
                </a:solidFill>
                <a:latin typeface="Times New Roman"/>
                <a:cs typeface="Times New Roman"/>
              </a:rPr>
              <a:t>workflow</a:t>
            </a:r>
            <a:r>
              <a:rPr dirty="0" sz="1600" spc="355" b="1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1600" spc="-50" b="1">
                <a:solidFill>
                  <a:srgbClr val="585858"/>
                </a:solidFill>
                <a:latin typeface="Times New Roman"/>
                <a:cs typeface="Times New Roman"/>
              </a:rPr>
              <a:t>:</a:t>
            </a:r>
            <a:endParaRPr sz="160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  <a:spcBef>
                <a:spcPts val="195"/>
              </a:spcBef>
            </a:pPr>
            <a:r>
              <a:rPr dirty="0" sz="1600" spc="100" b="1">
                <a:solidFill>
                  <a:srgbClr val="585858"/>
                </a:solidFill>
                <a:latin typeface="Times New Roman"/>
                <a:cs typeface="Times New Roman"/>
              </a:rPr>
              <a:t>Code</a:t>
            </a:r>
            <a:r>
              <a:rPr dirty="0" sz="1600" spc="320" b="1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1600" spc="110" b="1">
                <a:solidFill>
                  <a:srgbClr val="585858"/>
                </a:solidFill>
                <a:latin typeface="Times New Roman"/>
                <a:cs typeface="Times New Roman"/>
              </a:rPr>
              <a:t>Review</a:t>
            </a:r>
            <a:r>
              <a:rPr dirty="0" sz="1600" spc="335" b="1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1600" b="1">
                <a:solidFill>
                  <a:srgbClr val="585858"/>
                </a:solidFill>
                <a:latin typeface="Times New Roman"/>
                <a:cs typeface="Times New Roman"/>
              </a:rPr>
              <a:t>→</a:t>
            </a:r>
            <a:r>
              <a:rPr dirty="0" sz="1600" spc="310" b="1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1600" spc="120" b="1">
                <a:solidFill>
                  <a:srgbClr val="585858"/>
                </a:solidFill>
                <a:latin typeface="Times New Roman"/>
                <a:cs typeface="Times New Roman"/>
              </a:rPr>
              <a:t>Refactoring</a:t>
            </a:r>
            <a:r>
              <a:rPr dirty="0" sz="1600" spc="360" b="1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1600" b="1">
                <a:solidFill>
                  <a:srgbClr val="585858"/>
                </a:solidFill>
                <a:latin typeface="Times New Roman"/>
                <a:cs typeface="Times New Roman"/>
              </a:rPr>
              <a:t>→</a:t>
            </a:r>
            <a:r>
              <a:rPr dirty="0" sz="1600" spc="275" b="1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1600" spc="60" b="1">
                <a:solidFill>
                  <a:srgbClr val="585858"/>
                </a:solidFill>
                <a:latin typeface="Times New Roman"/>
                <a:cs typeface="Times New Roman"/>
              </a:rPr>
              <a:t>Test</a:t>
            </a:r>
            <a:r>
              <a:rPr dirty="0" sz="1600" spc="330" b="1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1600" spc="120" b="1">
                <a:solidFill>
                  <a:srgbClr val="585858"/>
                </a:solidFill>
                <a:latin typeface="Times New Roman"/>
                <a:cs typeface="Times New Roman"/>
              </a:rPr>
              <a:t>Generation</a:t>
            </a:r>
            <a:r>
              <a:rPr dirty="0" sz="1600" spc="350" b="1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1600" b="1">
                <a:solidFill>
                  <a:srgbClr val="585858"/>
                </a:solidFill>
                <a:latin typeface="Times New Roman"/>
                <a:cs typeface="Times New Roman"/>
              </a:rPr>
              <a:t>→</a:t>
            </a:r>
            <a:r>
              <a:rPr dirty="0" sz="1600" spc="305" b="1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1600" spc="100" b="1">
                <a:solidFill>
                  <a:srgbClr val="585858"/>
                </a:solidFill>
                <a:latin typeface="Times New Roman"/>
                <a:cs typeface="Times New Roman"/>
              </a:rPr>
              <a:t>Human</a:t>
            </a:r>
            <a:r>
              <a:rPr dirty="0" sz="1600" spc="265" b="1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1600" spc="105" b="1">
                <a:solidFill>
                  <a:srgbClr val="585858"/>
                </a:solidFill>
                <a:latin typeface="Times New Roman"/>
                <a:cs typeface="Times New Roman"/>
              </a:rPr>
              <a:t>Approval</a:t>
            </a:r>
            <a:endParaRPr sz="1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85901" y="546303"/>
            <a:ext cx="4237990" cy="51435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2362835" algn="l"/>
              </a:tabLst>
            </a:pPr>
            <a:r>
              <a:rPr dirty="0" spc="245">
                <a:latin typeface="Arial"/>
                <a:cs typeface="Arial"/>
              </a:rPr>
              <a:t>EXISTING</a:t>
            </a:r>
            <a:r>
              <a:rPr dirty="0">
                <a:latin typeface="Arial"/>
                <a:cs typeface="Arial"/>
              </a:rPr>
              <a:t>	</a:t>
            </a:r>
            <a:r>
              <a:rPr dirty="0" spc="235">
                <a:latin typeface="Arial"/>
                <a:cs typeface="Arial"/>
              </a:rPr>
              <a:t>SYSTEM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85901" y="1904238"/>
            <a:ext cx="4144010" cy="378206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240665" algn="l"/>
              </a:tabLst>
            </a:pPr>
            <a:r>
              <a:rPr dirty="0" sz="2000" spc="125">
                <a:solidFill>
                  <a:srgbClr val="585858"/>
                </a:solidFill>
                <a:latin typeface="Times New Roman"/>
                <a:cs typeface="Times New Roman"/>
              </a:rPr>
              <a:t>Static</a:t>
            </a:r>
            <a:r>
              <a:rPr dirty="0" sz="2000" spc="25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2000" spc="110">
                <a:solidFill>
                  <a:srgbClr val="585858"/>
                </a:solidFill>
                <a:latin typeface="Times New Roman"/>
                <a:cs typeface="Times New Roman"/>
              </a:rPr>
              <a:t>Code</a:t>
            </a:r>
            <a:r>
              <a:rPr dirty="0" sz="2000" spc="16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2000" spc="130">
                <a:solidFill>
                  <a:srgbClr val="585858"/>
                </a:solidFill>
                <a:latin typeface="Times New Roman"/>
                <a:cs typeface="Times New Roman"/>
              </a:rPr>
              <a:t>Analysis</a:t>
            </a:r>
            <a:r>
              <a:rPr dirty="0" sz="2000" spc="22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2000" spc="70">
                <a:solidFill>
                  <a:srgbClr val="585858"/>
                </a:solidFill>
                <a:latin typeface="Times New Roman"/>
                <a:cs typeface="Times New Roman"/>
              </a:rPr>
              <a:t>Tools</a:t>
            </a:r>
            <a:endParaRPr sz="200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spcBef>
                <a:spcPts val="1485"/>
              </a:spcBef>
              <a:buFont typeface="Arial"/>
              <a:buChar char="•"/>
              <a:tabLst>
                <a:tab pos="240665" algn="l"/>
              </a:tabLst>
            </a:pPr>
            <a:r>
              <a:rPr dirty="0" sz="2000" spc="150">
                <a:solidFill>
                  <a:srgbClr val="585858"/>
                </a:solidFill>
                <a:latin typeface="Times New Roman"/>
                <a:cs typeface="Times New Roman"/>
              </a:rPr>
              <a:t>Rule-</a:t>
            </a:r>
            <a:r>
              <a:rPr dirty="0" sz="2000" spc="110">
                <a:solidFill>
                  <a:srgbClr val="585858"/>
                </a:solidFill>
                <a:latin typeface="Times New Roman"/>
                <a:cs typeface="Times New Roman"/>
              </a:rPr>
              <a:t>Based</a:t>
            </a:r>
            <a:r>
              <a:rPr dirty="0" sz="2000" spc="27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2000" spc="110">
                <a:solidFill>
                  <a:srgbClr val="585858"/>
                </a:solidFill>
                <a:latin typeface="Times New Roman"/>
                <a:cs typeface="Times New Roman"/>
              </a:rPr>
              <a:t>Code</a:t>
            </a:r>
            <a:r>
              <a:rPr dirty="0" sz="2000" spc="29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2000" spc="110">
                <a:solidFill>
                  <a:srgbClr val="585858"/>
                </a:solidFill>
                <a:latin typeface="Times New Roman"/>
                <a:cs typeface="Times New Roman"/>
              </a:rPr>
              <a:t>Review</a:t>
            </a:r>
            <a:endParaRPr sz="200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spcBef>
                <a:spcPts val="1480"/>
              </a:spcBef>
              <a:buFont typeface="Arial"/>
              <a:buChar char="•"/>
              <a:tabLst>
                <a:tab pos="240665" algn="l"/>
              </a:tabLst>
            </a:pPr>
            <a:r>
              <a:rPr dirty="0" sz="2000" spc="155">
                <a:solidFill>
                  <a:srgbClr val="585858"/>
                </a:solidFill>
                <a:latin typeface="Times New Roman"/>
                <a:cs typeface="Times New Roman"/>
              </a:rPr>
              <a:t>LLM-</a:t>
            </a:r>
            <a:r>
              <a:rPr dirty="0" sz="2000" spc="110">
                <a:solidFill>
                  <a:srgbClr val="585858"/>
                </a:solidFill>
                <a:latin typeface="Times New Roman"/>
                <a:cs typeface="Times New Roman"/>
              </a:rPr>
              <a:t>Based</a:t>
            </a:r>
            <a:r>
              <a:rPr dirty="0" sz="2000" spc="27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2000" spc="110">
                <a:solidFill>
                  <a:srgbClr val="585858"/>
                </a:solidFill>
                <a:latin typeface="Times New Roman"/>
                <a:cs typeface="Times New Roman"/>
              </a:rPr>
              <a:t>Code</a:t>
            </a:r>
            <a:r>
              <a:rPr dirty="0" sz="2000" spc="285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2000" spc="120">
                <a:solidFill>
                  <a:srgbClr val="585858"/>
                </a:solidFill>
                <a:latin typeface="Times New Roman"/>
                <a:cs typeface="Times New Roman"/>
              </a:rPr>
              <a:t>Suggestions</a:t>
            </a:r>
            <a:endParaRPr sz="200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spcBef>
                <a:spcPts val="1475"/>
              </a:spcBef>
              <a:buFont typeface="Arial"/>
              <a:buChar char="•"/>
              <a:tabLst>
                <a:tab pos="240665" algn="l"/>
              </a:tabLst>
            </a:pPr>
            <a:r>
              <a:rPr dirty="0" sz="2000" spc="125">
                <a:solidFill>
                  <a:srgbClr val="585858"/>
                </a:solidFill>
                <a:latin typeface="Times New Roman"/>
                <a:cs typeface="Times New Roman"/>
              </a:rPr>
              <a:t>Automated</a:t>
            </a:r>
            <a:r>
              <a:rPr dirty="0" sz="2000" spc="28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2000" spc="110">
                <a:solidFill>
                  <a:srgbClr val="585858"/>
                </a:solidFill>
                <a:latin typeface="Times New Roman"/>
                <a:cs typeface="Times New Roman"/>
              </a:rPr>
              <a:t>Code</a:t>
            </a:r>
            <a:r>
              <a:rPr dirty="0" sz="2000" spc="30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2000" spc="120">
                <a:solidFill>
                  <a:srgbClr val="585858"/>
                </a:solidFill>
                <a:latin typeface="Times New Roman"/>
                <a:cs typeface="Times New Roman"/>
              </a:rPr>
              <a:t>Refactoring</a:t>
            </a:r>
            <a:endParaRPr sz="200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spcBef>
                <a:spcPts val="1485"/>
              </a:spcBef>
              <a:buFont typeface="Arial"/>
              <a:buChar char="•"/>
              <a:tabLst>
                <a:tab pos="240665" algn="l"/>
              </a:tabLst>
            </a:pPr>
            <a:r>
              <a:rPr dirty="0" sz="2000" spc="125">
                <a:solidFill>
                  <a:srgbClr val="585858"/>
                </a:solidFill>
                <a:latin typeface="Times New Roman"/>
                <a:cs typeface="Times New Roman"/>
              </a:rPr>
              <a:t>Automated</a:t>
            </a:r>
            <a:r>
              <a:rPr dirty="0" sz="2000" spc="28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2000" spc="155">
                <a:solidFill>
                  <a:srgbClr val="585858"/>
                </a:solidFill>
                <a:latin typeface="Times New Roman"/>
                <a:cs typeface="Times New Roman"/>
              </a:rPr>
              <a:t>Unit-</a:t>
            </a:r>
            <a:r>
              <a:rPr dirty="0" sz="2000" spc="70">
                <a:solidFill>
                  <a:srgbClr val="585858"/>
                </a:solidFill>
                <a:latin typeface="Times New Roman"/>
                <a:cs typeface="Times New Roman"/>
              </a:rPr>
              <a:t>Test</a:t>
            </a:r>
            <a:r>
              <a:rPr dirty="0" sz="2000" spc="28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2000" spc="120">
                <a:solidFill>
                  <a:srgbClr val="585858"/>
                </a:solidFill>
                <a:latin typeface="Times New Roman"/>
                <a:cs typeface="Times New Roman"/>
              </a:rPr>
              <a:t>Generation</a:t>
            </a:r>
            <a:endParaRPr sz="200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spcBef>
                <a:spcPts val="1480"/>
              </a:spcBef>
              <a:buFont typeface="Arial"/>
              <a:buChar char="•"/>
              <a:tabLst>
                <a:tab pos="240665" algn="l"/>
              </a:tabLst>
            </a:pPr>
            <a:r>
              <a:rPr dirty="0" sz="2000" spc="130">
                <a:solidFill>
                  <a:srgbClr val="585858"/>
                </a:solidFill>
                <a:latin typeface="Times New Roman"/>
                <a:cs typeface="Times New Roman"/>
              </a:rPr>
              <a:t>Specialized</a:t>
            </a:r>
            <a:r>
              <a:rPr dirty="0" sz="2000" spc="28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2000" spc="120">
                <a:solidFill>
                  <a:srgbClr val="585858"/>
                </a:solidFill>
                <a:latin typeface="Times New Roman"/>
                <a:cs typeface="Times New Roman"/>
              </a:rPr>
              <a:t>Review</a:t>
            </a:r>
            <a:r>
              <a:rPr dirty="0" sz="2000" spc="175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2000" spc="110">
                <a:solidFill>
                  <a:srgbClr val="585858"/>
                </a:solidFill>
                <a:latin typeface="Times New Roman"/>
                <a:cs typeface="Times New Roman"/>
              </a:rPr>
              <a:t>Agents</a:t>
            </a:r>
            <a:endParaRPr sz="200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spcBef>
                <a:spcPts val="1475"/>
              </a:spcBef>
              <a:buFont typeface="Arial"/>
              <a:buChar char="•"/>
              <a:tabLst>
                <a:tab pos="240665" algn="l"/>
              </a:tabLst>
            </a:pPr>
            <a:r>
              <a:rPr dirty="0" sz="2000" spc="130">
                <a:solidFill>
                  <a:srgbClr val="585858"/>
                </a:solidFill>
                <a:latin typeface="Times New Roman"/>
                <a:cs typeface="Times New Roman"/>
              </a:rPr>
              <a:t>Separate</a:t>
            </a:r>
            <a:r>
              <a:rPr dirty="0" sz="2000" spc="28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2000" spc="130">
                <a:solidFill>
                  <a:srgbClr val="585858"/>
                </a:solidFill>
                <a:latin typeface="Times New Roman"/>
                <a:cs typeface="Times New Roman"/>
              </a:rPr>
              <a:t>Maintenance</a:t>
            </a:r>
            <a:r>
              <a:rPr dirty="0" sz="2000" spc="235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2000" spc="80">
                <a:solidFill>
                  <a:srgbClr val="585858"/>
                </a:solidFill>
                <a:latin typeface="Times New Roman"/>
                <a:cs typeface="Times New Roman"/>
              </a:rPr>
              <a:t>Tools</a:t>
            </a:r>
            <a:endParaRPr sz="200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spcBef>
                <a:spcPts val="1490"/>
              </a:spcBef>
              <a:buFont typeface="Arial"/>
              <a:buChar char="•"/>
              <a:tabLst>
                <a:tab pos="240665" algn="l"/>
              </a:tabLst>
            </a:pPr>
            <a:r>
              <a:rPr dirty="0" sz="2000" spc="120">
                <a:solidFill>
                  <a:srgbClr val="585858"/>
                </a:solidFill>
                <a:latin typeface="Times New Roman"/>
                <a:cs typeface="Times New Roman"/>
              </a:rPr>
              <a:t>Limited</a:t>
            </a:r>
            <a:r>
              <a:rPr dirty="0" sz="2000" spc="245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2000" spc="105">
                <a:solidFill>
                  <a:srgbClr val="585858"/>
                </a:solidFill>
                <a:latin typeface="Times New Roman"/>
                <a:cs typeface="Times New Roman"/>
              </a:rPr>
              <a:t>Workflow</a:t>
            </a:r>
            <a:r>
              <a:rPr dirty="0" sz="2000" spc="285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2000" spc="120">
                <a:solidFill>
                  <a:srgbClr val="585858"/>
                </a:solidFill>
                <a:latin typeface="Times New Roman"/>
                <a:cs typeface="Times New Roman"/>
              </a:rPr>
              <a:t>Integration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88949" y="498094"/>
            <a:ext cx="9060815" cy="51371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4048760" algn="l"/>
                <a:tab pos="4838065" algn="l"/>
                <a:tab pos="7187565" algn="l"/>
              </a:tabLst>
            </a:pPr>
            <a:r>
              <a:rPr dirty="0" spc="210">
                <a:latin typeface="Arial"/>
                <a:cs typeface="Arial"/>
              </a:rPr>
              <a:t>DISADVANTAGES</a:t>
            </a:r>
            <a:r>
              <a:rPr dirty="0">
                <a:latin typeface="Arial"/>
                <a:cs typeface="Arial"/>
              </a:rPr>
              <a:t>	</a:t>
            </a:r>
            <a:r>
              <a:rPr dirty="0" spc="125">
                <a:latin typeface="Arial"/>
                <a:cs typeface="Arial"/>
              </a:rPr>
              <a:t>OF</a:t>
            </a:r>
            <a:r>
              <a:rPr dirty="0">
                <a:latin typeface="Arial"/>
                <a:cs typeface="Arial"/>
              </a:rPr>
              <a:t>	</a:t>
            </a:r>
            <a:r>
              <a:rPr dirty="0" spc="235">
                <a:latin typeface="Arial"/>
                <a:cs typeface="Arial"/>
              </a:rPr>
              <a:t>EXISTING</a:t>
            </a:r>
            <a:r>
              <a:rPr dirty="0">
                <a:latin typeface="Arial"/>
                <a:cs typeface="Arial"/>
              </a:rPr>
              <a:t>	</a:t>
            </a:r>
            <a:r>
              <a:rPr dirty="0" spc="215">
                <a:latin typeface="Arial"/>
                <a:cs typeface="Arial"/>
              </a:rPr>
              <a:t>SYSTEM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88949" y="1762125"/>
            <a:ext cx="4705350" cy="294830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240665" algn="l"/>
              </a:tabLst>
            </a:pPr>
            <a:r>
              <a:rPr dirty="0" sz="2000" spc="120">
                <a:solidFill>
                  <a:srgbClr val="585858"/>
                </a:solidFill>
                <a:latin typeface="Times New Roman"/>
                <a:cs typeface="Times New Roman"/>
              </a:rPr>
              <a:t>Task-</a:t>
            </a:r>
            <a:r>
              <a:rPr dirty="0" sz="2000" spc="125">
                <a:solidFill>
                  <a:srgbClr val="585858"/>
                </a:solidFill>
                <a:latin typeface="Times New Roman"/>
                <a:cs typeface="Times New Roman"/>
              </a:rPr>
              <a:t>Specific</a:t>
            </a:r>
            <a:r>
              <a:rPr dirty="0" sz="2000" spc="28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2000" spc="125">
                <a:solidFill>
                  <a:srgbClr val="585858"/>
                </a:solidFill>
                <a:latin typeface="Times New Roman"/>
                <a:cs typeface="Times New Roman"/>
              </a:rPr>
              <a:t>Software</a:t>
            </a:r>
            <a:r>
              <a:rPr dirty="0" sz="2000" spc="265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2000" spc="120">
                <a:solidFill>
                  <a:srgbClr val="585858"/>
                </a:solidFill>
                <a:latin typeface="Times New Roman"/>
                <a:cs typeface="Times New Roman"/>
              </a:rPr>
              <a:t>Solutions</a:t>
            </a:r>
            <a:endParaRPr sz="200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spcBef>
                <a:spcPts val="1714"/>
              </a:spcBef>
              <a:buFont typeface="Arial"/>
              <a:buChar char="•"/>
              <a:tabLst>
                <a:tab pos="240665" algn="l"/>
              </a:tabLst>
            </a:pPr>
            <a:r>
              <a:rPr dirty="0" sz="2000" spc="130">
                <a:solidFill>
                  <a:srgbClr val="585858"/>
                </a:solidFill>
                <a:latin typeface="Times New Roman"/>
                <a:cs typeface="Times New Roman"/>
              </a:rPr>
              <a:t>Separate</a:t>
            </a:r>
            <a:r>
              <a:rPr dirty="0" sz="2000" spc="265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2000" spc="120">
                <a:solidFill>
                  <a:srgbClr val="585858"/>
                </a:solidFill>
                <a:latin typeface="Times New Roman"/>
                <a:cs typeface="Times New Roman"/>
              </a:rPr>
              <a:t>Review</a:t>
            </a:r>
            <a:r>
              <a:rPr dirty="0" sz="2000" spc="15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2000" spc="100">
                <a:solidFill>
                  <a:srgbClr val="585858"/>
                </a:solidFill>
                <a:latin typeface="Times New Roman"/>
                <a:cs typeface="Times New Roman"/>
              </a:rPr>
              <a:t>And</a:t>
            </a:r>
            <a:r>
              <a:rPr dirty="0" sz="2000" spc="25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2000" spc="95">
                <a:solidFill>
                  <a:srgbClr val="585858"/>
                </a:solidFill>
                <a:latin typeface="Times New Roman"/>
                <a:cs typeface="Times New Roman"/>
              </a:rPr>
              <a:t>Testing</a:t>
            </a:r>
            <a:endParaRPr sz="200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spcBef>
                <a:spcPts val="1730"/>
              </a:spcBef>
              <a:buFont typeface="Arial"/>
              <a:buChar char="•"/>
              <a:tabLst>
                <a:tab pos="240665" algn="l"/>
              </a:tabLst>
            </a:pPr>
            <a:r>
              <a:rPr dirty="0" sz="2000" spc="120">
                <a:solidFill>
                  <a:srgbClr val="585858"/>
                </a:solidFill>
                <a:latin typeface="Times New Roman"/>
                <a:cs typeface="Times New Roman"/>
              </a:rPr>
              <a:t>Limited</a:t>
            </a:r>
            <a:r>
              <a:rPr dirty="0" sz="2000" spc="285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2000" spc="110">
                <a:solidFill>
                  <a:srgbClr val="585858"/>
                </a:solidFill>
                <a:latin typeface="Times New Roman"/>
                <a:cs typeface="Times New Roman"/>
              </a:rPr>
              <a:t>Code</a:t>
            </a:r>
            <a:r>
              <a:rPr dirty="0" sz="2000" spc="285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2000" spc="125">
                <a:solidFill>
                  <a:srgbClr val="585858"/>
                </a:solidFill>
                <a:latin typeface="Times New Roman"/>
                <a:cs typeface="Times New Roman"/>
              </a:rPr>
              <a:t>Context</a:t>
            </a:r>
            <a:r>
              <a:rPr dirty="0" sz="2000" spc="275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2000" spc="120">
                <a:solidFill>
                  <a:srgbClr val="585858"/>
                </a:solidFill>
                <a:latin typeface="Times New Roman"/>
                <a:cs typeface="Times New Roman"/>
              </a:rPr>
              <a:t>Understanding</a:t>
            </a:r>
            <a:endParaRPr sz="200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spcBef>
                <a:spcPts val="1714"/>
              </a:spcBef>
              <a:buFont typeface="Arial"/>
              <a:buChar char="•"/>
              <a:tabLst>
                <a:tab pos="240665" algn="l"/>
              </a:tabLst>
            </a:pPr>
            <a:r>
              <a:rPr dirty="0" sz="2000" spc="70">
                <a:solidFill>
                  <a:srgbClr val="585858"/>
                </a:solidFill>
                <a:latin typeface="Times New Roman"/>
                <a:cs typeface="Times New Roman"/>
              </a:rPr>
              <a:t>AI</a:t>
            </a:r>
            <a:r>
              <a:rPr dirty="0" sz="2000" spc="29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2000" spc="130">
                <a:solidFill>
                  <a:srgbClr val="585858"/>
                </a:solidFill>
                <a:latin typeface="Times New Roman"/>
                <a:cs typeface="Times New Roman"/>
              </a:rPr>
              <a:t>Suggestions</a:t>
            </a:r>
            <a:r>
              <a:rPr dirty="0" sz="2000" spc="27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2000" spc="110">
                <a:solidFill>
                  <a:srgbClr val="585858"/>
                </a:solidFill>
                <a:latin typeface="Times New Roman"/>
                <a:cs typeface="Times New Roman"/>
              </a:rPr>
              <a:t>Need</a:t>
            </a:r>
            <a:r>
              <a:rPr dirty="0" sz="2000" spc="245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2000" spc="105">
                <a:solidFill>
                  <a:srgbClr val="585858"/>
                </a:solidFill>
                <a:latin typeface="Times New Roman"/>
                <a:cs typeface="Times New Roman"/>
              </a:rPr>
              <a:t>Verification</a:t>
            </a:r>
            <a:endParaRPr sz="200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spcBef>
                <a:spcPts val="1714"/>
              </a:spcBef>
              <a:buFont typeface="Arial"/>
              <a:buChar char="•"/>
              <a:tabLst>
                <a:tab pos="240665" algn="l"/>
              </a:tabLst>
            </a:pPr>
            <a:r>
              <a:rPr dirty="0" sz="2000" spc="130">
                <a:solidFill>
                  <a:srgbClr val="585858"/>
                </a:solidFill>
                <a:latin typeface="Times New Roman"/>
                <a:cs typeface="Times New Roman"/>
              </a:rPr>
              <a:t>Generated</a:t>
            </a:r>
            <a:r>
              <a:rPr dirty="0" sz="2000" spc="225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2000" spc="85">
                <a:solidFill>
                  <a:srgbClr val="585858"/>
                </a:solidFill>
                <a:latin typeface="Times New Roman"/>
                <a:cs typeface="Times New Roman"/>
              </a:rPr>
              <a:t>Tests</a:t>
            </a:r>
            <a:r>
              <a:rPr dirty="0" sz="2000" spc="27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2000" spc="110">
                <a:solidFill>
                  <a:srgbClr val="585858"/>
                </a:solidFill>
                <a:latin typeface="Times New Roman"/>
                <a:cs typeface="Times New Roman"/>
              </a:rPr>
              <a:t>Need</a:t>
            </a:r>
            <a:r>
              <a:rPr dirty="0" sz="2000" spc="24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2000" spc="100">
                <a:solidFill>
                  <a:srgbClr val="585858"/>
                </a:solidFill>
                <a:latin typeface="Times New Roman"/>
                <a:cs typeface="Times New Roman"/>
              </a:rPr>
              <a:t>Validation</a:t>
            </a:r>
            <a:endParaRPr sz="200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spcBef>
                <a:spcPts val="1730"/>
              </a:spcBef>
              <a:buFont typeface="Arial"/>
              <a:buChar char="•"/>
              <a:tabLst>
                <a:tab pos="240665" algn="l"/>
              </a:tabLst>
            </a:pPr>
            <a:r>
              <a:rPr dirty="0" sz="2000" spc="130">
                <a:solidFill>
                  <a:srgbClr val="585858"/>
                </a:solidFill>
                <a:latin typeface="Times New Roman"/>
                <a:cs typeface="Times New Roman"/>
              </a:rPr>
              <a:t>Increased</a:t>
            </a:r>
            <a:r>
              <a:rPr dirty="0" sz="2000" spc="26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2000" spc="130">
                <a:solidFill>
                  <a:srgbClr val="585858"/>
                </a:solidFill>
                <a:latin typeface="Times New Roman"/>
                <a:cs typeface="Times New Roman"/>
              </a:rPr>
              <a:t>Developer</a:t>
            </a:r>
            <a:r>
              <a:rPr dirty="0" sz="2000" spc="27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2000" spc="120">
                <a:solidFill>
                  <a:srgbClr val="585858"/>
                </a:solidFill>
                <a:latin typeface="Times New Roman"/>
                <a:cs typeface="Times New Roman"/>
              </a:rPr>
              <a:t>Intervention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88949" y="538733"/>
            <a:ext cx="4333875" cy="51371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2528570" algn="l"/>
              </a:tabLst>
            </a:pPr>
            <a:r>
              <a:rPr dirty="0" spc="240"/>
              <a:t>PROPOSED</a:t>
            </a:r>
            <a:r>
              <a:rPr dirty="0"/>
              <a:t>	</a:t>
            </a:r>
            <a:r>
              <a:rPr dirty="0" spc="225"/>
              <a:t>SYSTEM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85901" y="1567688"/>
            <a:ext cx="5053965" cy="39941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240665" algn="l"/>
              </a:tabLst>
            </a:pPr>
            <a:r>
              <a:rPr dirty="0" sz="2000" spc="130">
                <a:solidFill>
                  <a:srgbClr val="585858"/>
                </a:solidFill>
                <a:latin typeface="Times New Roman"/>
                <a:cs typeface="Times New Roman"/>
              </a:rPr>
              <a:t>Integrated</a:t>
            </a:r>
            <a:r>
              <a:rPr dirty="0" sz="2000" spc="275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2000" spc="110">
                <a:solidFill>
                  <a:srgbClr val="585858"/>
                </a:solidFill>
                <a:latin typeface="Times New Roman"/>
                <a:cs typeface="Times New Roman"/>
              </a:rPr>
              <a:t>Code</a:t>
            </a:r>
            <a:r>
              <a:rPr dirty="0" sz="2000" spc="285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2000" spc="130">
                <a:solidFill>
                  <a:srgbClr val="585858"/>
                </a:solidFill>
                <a:latin typeface="Times New Roman"/>
                <a:cs typeface="Times New Roman"/>
              </a:rPr>
              <a:t>Improvement</a:t>
            </a:r>
            <a:r>
              <a:rPr dirty="0" sz="2000" spc="245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2000" spc="95">
                <a:solidFill>
                  <a:srgbClr val="585858"/>
                </a:solidFill>
                <a:latin typeface="Times New Roman"/>
                <a:cs typeface="Times New Roman"/>
              </a:rPr>
              <a:t>Workflow</a:t>
            </a:r>
            <a:endParaRPr sz="200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spcBef>
                <a:spcPts val="1714"/>
              </a:spcBef>
              <a:buFont typeface="Arial"/>
              <a:buChar char="•"/>
              <a:tabLst>
                <a:tab pos="240665" algn="l"/>
              </a:tabLst>
            </a:pPr>
            <a:r>
              <a:rPr dirty="0" sz="2000" spc="130">
                <a:solidFill>
                  <a:srgbClr val="585858"/>
                </a:solidFill>
                <a:latin typeface="Times New Roman"/>
                <a:cs typeface="Times New Roman"/>
              </a:rPr>
              <a:t>Specialized</a:t>
            </a:r>
            <a:r>
              <a:rPr dirty="0" sz="2000" spc="17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2000" spc="70">
                <a:solidFill>
                  <a:srgbClr val="585858"/>
                </a:solidFill>
                <a:latin typeface="Times New Roman"/>
                <a:cs typeface="Times New Roman"/>
              </a:rPr>
              <a:t>AI</a:t>
            </a:r>
            <a:r>
              <a:rPr dirty="0" sz="2000" spc="195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2000" spc="114">
                <a:solidFill>
                  <a:srgbClr val="585858"/>
                </a:solidFill>
                <a:latin typeface="Times New Roman"/>
                <a:cs typeface="Times New Roman"/>
              </a:rPr>
              <a:t>Agents</a:t>
            </a:r>
            <a:endParaRPr sz="200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spcBef>
                <a:spcPts val="1725"/>
              </a:spcBef>
              <a:buFont typeface="Arial"/>
              <a:buChar char="•"/>
              <a:tabLst>
                <a:tab pos="240665" algn="l"/>
              </a:tabLst>
            </a:pPr>
            <a:r>
              <a:rPr dirty="0" sz="2000" spc="125">
                <a:solidFill>
                  <a:srgbClr val="585858"/>
                </a:solidFill>
                <a:latin typeface="Times New Roman"/>
                <a:cs typeface="Times New Roman"/>
              </a:rPr>
              <a:t>Automated</a:t>
            </a:r>
            <a:r>
              <a:rPr dirty="0" sz="2000" spc="275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2000" spc="110">
                <a:solidFill>
                  <a:srgbClr val="585858"/>
                </a:solidFill>
                <a:latin typeface="Times New Roman"/>
                <a:cs typeface="Times New Roman"/>
              </a:rPr>
              <a:t>Code</a:t>
            </a:r>
            <a:r>
              <a:rPr dirty="0" sz="2000" spc="295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2000" spc="114">
                <a:solidFill>
                  <a:srgbClr val="585858"/>
                </a:solidFill>
                <a:latin typeface="Times New Roman"/>
                <a:cs typeface="Times New Roman"/>
              </a:rPr>
              <a:t>Issue</a:t>
            </a:r>
            <a:r>
              <a:rPr dirty="0" sz="2000" spc="285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2000" spc="114">
                <a:solidFill>
                  <a:srgbClr val="585858"/>
                </a:solidFill>
                <a:latin typeface="Times New Roman"/>
                <a:cs typeface="Times New Roman"/>
              </a:rPr>
              <a:t>Detection</a:t>
            </a:r>
            <a:endParaRPr sz="200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spcBef>
                <a:spcPts val="1720"/>
              </a:spcBef>
              <a:buFont typeface="Arial"/>
              <a:buChar char="•"/>
              <a:tabLst>
                <a:tab pos="240665" algn="l"/>
              </a:tabLst>
            </a:pPr>
            <a:r>
              <a:rPr dirty="0" sz="2000" spc="160">
                <a:solidFill>
                  <a:srgbClr val="585858"/>
                </a:solidFill>
                <a:latin typeface="Times New Roman"/>
                <a:cs typeface="Times New Roman"/>
              </a:rPr>
              <a:t>AI-</a:t>
            </a:r>
            <a:r>
              <a:rPr dirty="0" sz="2000" spc="110">
                <a:solidFill>
                  <a:srgbClr val="585858"/>
                </a:solidFill>
                <a:latin typeface="Times New Roman"/>
                <a:cs typeface="Times New Roman"/>
              </a:rPr>
              <a:t>Based</a:t>
            </a:r>
            <a:r>
              <a:rPr dirty="0" sz="2000" spc="275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2000" spc="130">
                <a:solidFill>
                  <a:srgbClr val="585858"/>
                </a:solidFill>
                <a:latin typeface="Times New Roman"/>
                <a:cs typeface="Times New Roman"/>
              </a:rPr>
              <a:t>Refactoring</a:t>
            </a:r>
            <a:r>
              <a:rPr dirty="0" sz="2000" spc="275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2000" spc="120">
                <a:solidFill>
                  <a:srgbClr val="585858"/>
                </a:solidFill>
                <a:latin typeface="Times New Roman"/>
                <a:cs typeface="Times New Roman"/>
              </a:rPr>
              <a:t>Suggestions</a:t>
            </a:r>
            <a:endParaRPr sz="200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spcBef>
                <a:spcPts val="1714"/>
              </a:spcBef>
              <a:buFont typeface="Arial"/>
              <a:buChar char="•"/>
              <a:tabLst>
                <a:tab pos="240665" algn="l"/>
              </a:tabLst>
            </a:pPr>
            <a:r>
              <a:rPr dirty="0" sz="2000" spc="114">
                <a:solidFill>
                  <a:srgbClr val="585858"/>
                </a:solidFill>
                <a:latin typeface="Times New Roman"/>
                <a:cs typeface="Times New Roman"/>
              </a:rPr>
              <a:t>Human</a:t>
            </a:r>
            <a:r>
              <a:rPr dirty="0" sz="2000" spc="17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2000" spc="130">
                <a:solidFill>
                  <a:srgbClr val="585858"/>
                </a:solidFill>
                <a:latin typeface="Times New Roman"/>
                <a:cs typeface="Times New Roman"/>
              </a:rPr>
              <a:t>Approval</a:t>
            </a:r>
            <a:r>
              <a:rPr dirty="0" sz="2000" spc="254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2000" spc="120">
                <a:solidFill>
                  <a:srgbClr val="585858"/>
                </a:solidFill>
                <a:latin typeface="Times New Roman"/>
                <a:cs typeface="Times New Roman"/>
              </a:rPr>
              <a:t>Before</a:t>
            </a:r>
            <a:r>
              <a:rPr dirty="0" sz="2000" spc="275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2000" spc="114">
                <a:solidFill>
                  <a:srgbClr val="585858"/>
                </a:solidFill>
                <a:latin typeface="Times New Roman"/>
                <a:cs typeface="Times New Roman"/>
              </a:rPr>
              <a:t>Changes</a:t>
            </a:r>
            <a:endParaRPr sz="200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spcBef>
                <a:spcPts val="1730"/>
              </a:spcBef>
              <a:buFont typeface="Arial"/>
              <a:buChar char="•"/>
              <a:tabLst>
                <a:tab pos="240665" algn="l"/>
              </a:tabLst>
            </a:pPr>
            <a:r>
              <a:rPr dirty="0" sz="2000" spc="125">
                <a:solidFill>
                  <a:srgbClr val="585858"/>
                </a:solidFill>
                <a:latin typeface="Times New Roman"/>
                <a:cs typeface="Times New Roman"/>
              </a:rPr>
              <a:t>Automated</a:t>
            </a:r>
            <a:r>
              <a:rPr dirty="0" sz="2000" spc="28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2000" spc="155">
                <a:solidFill>
                  <a:srgbClr val="585858"/>
                </a:solidFill>
                <a:latin typeface="Times New Roman"/>
                <a:cs typeface="Times New Roman"/>
              </a:rPr>
              <a:t>Unit-</a:t>
            </a:r>
            <a:r>
              <a:rPr dirty="0" sz="2000" spc="70">
                <a:solidFill>
                  <a:srgbClr val="585858"/>
                </a:solidFill>
                <a:latin typeface="Times New Roman"/>
                <a:cs typeface="Times New Roman"/>
              </a:rPr>
              <a:t>Test</a:t>
            </a:r>
            <a:r>
              <a:rPr dirty="0" sz="2000" spc="28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2000" spc="120">
                <a:solidFill>
                  <a:srgbClr val="585858"/>
                </a:solidFill>
                <a:latin typeface="Times New Roman"/>
                <a:cs typeface="Times New Roman"/>
              </a:rPr>
              <a:t>Generation</a:t>
            </a:r>
            <a:endParaRPr sz="200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spcBef>
                <a:spcPts val="1714"/>
              </a:spcBef>
              <a:buFont typeface="Arial"/>
              <a:buChar char="•"/>
              <a:tabLst>
                <a:tab pos="240665" algn="l"/>
              </a:tabLst>
            </a:pPr>
            <a:r>
              <a:rPr dirty="0" sz="2000" spc="70">
                <a:solidFill>
                  <a:srgbClr val="585858"/>
                </a:solidFill>
                <a:latin typeface="Times New Roman"/>
                <a:cs typeface="Times New Roman"/>
              </a:rPr>
              <a:t>AI</a:t>
            </a:r>
            <a:r>
              <a:rPr dirty="0" sz="2000" spc="24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2000" spc="95">
                <a:solidFill>
                  <a:srgbClr val="585858"/>
                </a:solidFill>
                <a:latin typeface="Times New Roman"/>
                <a:cs typeface="Times New Roman"/>
              </a:rPr>
              <a:t>With</a:t>
            </a:r>
            <a:r>
              <a:rPr dirty="0" sz="2000" spc="26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2000" spc="125">
                <a:solidFill>
                  <a:srgbClr val="585858"/>
                </a:solidFill>
                <a:latin typeface="Times New Roman"/>
                <a:cs typeface="Times New Roman"/>
              </a:rPr>
              <a:t>Static</a:t>
            </a:r>
            <a:r>
              <a:rPr dirty="0" sz="2000" spc="145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2000" spc="114">
                <a:solidFill>
                  <a:srgbClr val="585858"/>
                </a:solidFill>
                <a:latin typeface="Times New Roman"/>
                <a:cs typeface="Times New Roman"/>
              </a:rPr>
              <a:t>Analysis</a:t>
            </a:r>
            <a:endParaRPr sz="200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spcBef>
                <a:spcPts val="1720"/>
              </a:spcBef>
              <a:buFont typeface="Arial"/>
              <a:buChar char="•"/>
              <a:tabLst>
                <a:tab pos="240665" algn="l"/>
              </a:tabLst>
            </a:pPr>
            <a:r>
              <a:rPr dirty="0" sz="2000" spc="130">
                <a:solidFill>
                  <a:srgbClr val="585858"/>
                </a:solidFill>
                <a:latin typeface="Times New Roman"/>
                <a:cs typeface="Times New Roman"/>
              </a:rPr>
              <a:t>Coordinated</a:t>
            </a:r>
            <a:r>
              <a:rPr dirty="0" sz="2000" spc="165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2000" spc="120">
                <a:solidFill>
                  <a:srgbClr val="585858"/>
                </a:solidFill>
                <a:latin typeface="Times New Roman"/>
                <a:cs typeface="Times New Roman"/>
              </a:rPr>
              <a:t>Agent</a:t>
            </a:r>
            <a:r>
              <a:rPr dirty="0" sz="2000" spc="275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2000" spc="120">
                <a:solidFill>
                  <a:srgbClr val="585858"/>
                </a:solidFill>
                <a:latin typeface="Times New Roman"/>
                <a:cs typeface="Times New Roman"/>
              </a:rPr>
              <a:t>Orchestration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80974" rIns="0" bIns="0" rtlCol="0" vert="horz">
            <a:spAutoFit/>
          </a:bodyPr>
          <a:lstStyle/>
          <a:p>
            <a:pPr marL="112395">
              <a:lnSpc>
                <a:spcPct val="100000"/>
              </a:lnSpc>
              <a:spcBef>
                <a:spcPts val="105"/>
              </a:spcBef>
              <a:tabLst>
                <a:tab pos="2628900" algn="l"/>
                <a:tab pos="4573905" algn="l"/>
                <a:tab pos="8256270" algn="l"/>
              </a:tabLst>
            </a:pPr>
            <a:r>
              <a:rPr dirty="0" spc="240"/>
              <a:t>PROPOSED</a:t>
            </a:r>
            <a:r>
              <a:rPr dirty="0"/>
              <a:t>	</a:t>
            </a:r>
            <a:r>
              <a:rPr dirty="0" spc="225"/>
              <a:t>SYSTEM</a:t>
            </a:r>
            <a:r>
              <a:rPr dirty="0"/>
              <a:t>	</a:t>
            </a:r>
            <a:r>
              <a:rPr dirty="0" spc="250"/>
              <a:t>ARCHITECTURE</a:t>
            </a:r>
            <a:r>
              <a:rPr dirty="0"/>
              <a:t>	</a:t>
            </a:r>
            <a:r>
              <a:rPr dirty="0" spc="235"/>
              <a:t>DIAGRAM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25575" y="1558563"/>
            <a:ext cx="9187408" cy="400483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277238" y="564007"/>
            <a:ext cx="9432925" cy="51371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2528570" algn="l"/>
                <a:tab pos="4495800" algn="l"/>
                <a:tab pos="5815330" algn="l"/>
                <a:tab pos="7248525" algn="l"/>
              </a:tabLst>
            </a:pPr>
            <a:r>
              <a:rPr dirty="0" spc="240"/>
              <a:t>PROPOSED</a:t>
            </a:r>
            <a:r>
              <a:rPr dirty="0"/>
              <a:t>	</a:t>
            </a:r>
            <a:r>
              <a:rPr dirty="0" spc="225"/>
              <a:t>SYSTEM</a:t>
            </a:r>
            <a:r>
              <a:rPr dirty="0"/>
              <a:t>	</a:t>
            </a:r>
            <a:r>
              <a:rPr dirty="0" spc="45"/>
              <a:t>DATA</a:t>
            </a:r>
            <a:r>
              <a:rPr dirty="0"/>
              <a:t>	</a:t>
            </a:r>
            <a:r>
              <a:rPr dirty="0" spc="190"/>
              <a:t>FLOW</a:t>
            </a:r>
            <a:r>
              <a:rPr dirty="0"/>
              <a:t>	</a:t>
            </a:r>
            <a:r>
              <a:rPr dirty="0" spc="235"/>
              <a:t>DIAGRAM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30947" y="1801281"/>
            <a:ext cx="8895581" cy="387189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281045">
              <a:lnSpc>
                <a:spcPct val="100000"/>
              </a:lnSpc>
              <a:spcBef>
                <a:spcPts val="100"/>
              </a:spcBef>
            </a:pPr>
            <a:r>
              <a:rPr dirty="0" spc="254"/>
              <a:t>METHODOLOGY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283210" indent="-270510">
              <a:lnSpc>
                <a:spcPct val="100000"/>
              </a:lnSpc>
              <a:spcBef>
                <a:spcPts val="95"/>
              </a:spcBef>
              <a:buFont typeface="Arial"/>
              <a:buAutoNum type="arabicPeriod"/>
              <a:tabLst>
                <a:tab pos="283210" algn="l"/>
              </a:tabLst>
            </a:pPr>
            <a:r>
              <a:rPr dirty="0" spc="100"/>
              <a:t>Code</a:t>
            </a:r>
            <a:r>
              <a:rPr dirty="0" spc="325"/>
              <a:t> </a:t>
            </a:r>
            <a:r>
              <a:rPr dirty="0" spc="105"/>
              <a:t>Input</a:t>
            </a:r>
            <a:r>
              <a:rPr dirty="0" spc="330"/>
              <a:t> </a:t>
            </a:r>
            <a:r>
              <a:rPr dirty="0"/>
              <a:t>&amp;</a:t>
            </a:r>
            <a:r>
              <a:rPr dirty="0" spc="225"/>
              <a:t> </a:t>
            </a:r>
            <a:r>
              <a:rPr dirty="0" spc="114"/>
              <a:t>Analysis</a:t>
            </a:r>
            <a:r>
              <a:rPr dirty="0" spc="350"/>
              <a:t> </a:t>
            </a:r>
            <a:r>
              <a:rPr dirty="0" spc="100"/>
              <a:t>Module</a:t>
            </a:r>
          </a:p>
          <a:p>
            <a:pPr lvl="1" marL="240665" indent="-227965">
              <a:lnSpc>
                <a:spcPct val="100000"/>
              </a:lnSpc>
              <a:spcBef>
                <a:spcPts val="1570"/>
              </a:spcBef>
              <a:buFont typeface="Arial"/>
              <a:buChar char="•"/>
              <a:tabLst>
                <a:tab pos="240665" algn="l"/>
              </a:tabLst>
            </a:pPr>
            <a:r>
              <a:rPr dirty="0" sz="1600" spc="110">
                <a:solidFill>
                  <a:srgbClr val="585858"/>
                </a:solidFill>
                <a:latin typeface="Times New Roman"/>
                <a:cs typeface="Times New Roman"/>
              </a:rPr>
              <a:t>Accepts</a:t>
            </a:r>
            <a:r>
              <a:rPr dirty="0" sz="1600" spc="36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1600" spc="110">
                <a:solidFill>
                  <a:srgbClr val="585858"/>
                </a:solidFill>
                <a:latin typeface="Times New Roman"/>
                <a:cs typeface="Times New Roman"/>
              </a:rPr>
              <a:t>source</a:t>
            </a:r>
            <a:r>
              <a:rPr dirty="0" sz="1600" spc="34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1600" spc="95">
                <a:solidFill>
                  <a:srgbClr val="585858"/>
                </a:solidFill>
                <a:latin typeface="Times New Roman"/>
                <a:cs typeface="Times New Roman"/>
              </a:rPr>
              <a:t>code</a:t>
            </a:r>
            <a:r>
              <a:rPr dirty="0" sz="1600" spc="33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1600" spc="100">
                <a:solidFill>
                  <a:srgbClr val="585858"/>
                </a:solidFill>
                <a:latin typeface="Times New Roman"/>
                <a:cs typeface="Times New Roman"/>
              </a:rPr>
              <a:t>from</a:t>
            </a:r>
            <a:r>
              <a:rPr dirty="0" sz="1600" spc="335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1600" spc="85">
                <a:solidFill>
                  <a:srgbClr val="585858"/>
                </a:solidFill>
                <a:latin typeface="Times New Roman"/>
                <a:cs typeface="Times New Roman"/>
              </a:rPr>
              <a:t>the</a:t>
            </a:r>
            <a:r>
              <a:rPr dirty="0" sz="1600" spc="315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1600" spc="114">
                <a:solidFill>
                  <a:srgbClr val="585858"/>
                </a:solidFill>
                <a:latin typeface="Times New Roman"/>
                <a:cs typeface="Times New Roman"/>
              </a:rPr>
              <a:t>selected</a:t>
            </a:r>
            <a:r>
              <a:rPr dirty="0" sz="1600" spc="36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1600" spc="100">
                <a:solidFill>
                  <a:srgbClr val="585858"/>
                </a:solidFill>
                <a:latin typeface="Times New Roman"/>
                <a:cs typeface="Times New Roman"/>
              </a:rPr>
              <a:t>repository.</a:t>
            </a:r>
            <a:endParaRPr sz="1600">
              <a:latin typeface="Times New Roman"/>
              <a:cs typeface="Times New Roman"/>
            </a:endParaRPr>
          </a:p>
          <a:p>
            <a:pPr lvl="1" marL="240665" indent="-227965">
              <a:lnSpc>
                <a:spcPct val="100000"/>
              </a:lnSpc>
              <a:spcBef>
                <a:spcPts val="1585"/>
              </a:spcBef>
              <a:buFont typeface="Arial"/>
              <a:buChar char="•"/>
              <a:tabLst>
                <a:tab pos="240665" algn="l"/>
              </a:tabLst>
            </a:pPr>
            <a:r>
              <a:rPr dirty="0" sz="1600" spc="110">
                <a:solidFill>
                  <a:srgbClr val="585858"/>
                </a:solidFill>
                <a:latin typeface="Times New Roman"/>
                <a:cs typeface="Times New Roman"/>
              </a:rPr>
              <a:t>Parses</a:t>
            </a:r>
            <a:r>
              <a:rPr dirty="0" sz="1600" spc="35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1600" spc="85">
                <a:solidFill>
                  <a:srgbClr val="585858"/>
                </a:solidFill>
                <a:latin typeface="Times New Roman"/>
                <a:cs typeface="Times New Roman"/>
              </a:rPr>
              <a:t>and</a:t>
            </a:r>
            <a:r>
              <a:rPr dirty="0" sz="1600" spc="35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1600" spc="114">
                <a:solidFill>
                  <a:srgbClr val="585858"/>
                </a:solidFill>
                <a:latin typeface="Times New Roman"/>
                <a:cs typeface="Times New Roman"/>
              </a:rPr>
              <a:t>analyzes</a:t>
            </a:r>
            <a:r>
              <a:rPr dirty="0" sz="1600" spc="385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1600" spc="85">
                <a:solidFill>
                  <a:srgbClr val="585858"/>
                </a:solidFill>
                <a:latin typeface="Times New Roman"/>
                <a:cs typeface="Times New Roman"/>
              </a:rPr>
              <a:t>the</a:t>
            </a:r>
            <a:r>
              <a:rPr dirty="0" sz="1600" spc="325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1600" spc="95">
                <a:solidFill>
                  <a:srgbClr val="585858"/>
                </a:solidFill>
                <a:latin typeface="Times New Roman"/>
                <a:cs typeface="Times New Roman"/>
              </a:rPr>
              <a:t>code</a:t>
            </a:r>
            <a:r>
              <a:rPr dirty="0" sz="1600" spc="33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1600" spc="85">
                <a:solidFill>
                  <a:srgbClr val="585858"/>
                </a:solidFill>
                <a:latin typeface="Times New Roman"/>
                <a:cs typeface="Times New Roman"/>
              </a:rPr>
              <a:t>for</a:t>
            </a:r>
            <a:r>
              <a:rPr dirty="0" sz="1600" spc="31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1600" spc="114">
                <a:solidFill>
                  <a:srgbClr val="585858"/>
                </a:solidFill>
                <a:latin typeface="Times New Roman"/>
                <a:cs typeface="Times New Roman"/>
              </a:rPr>
              <a:t>structure</a:t>
            </a:r>
            <a:r>
              <a:rPr dirty="0" sz="1600" spc="365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1600" spc="85">
                <a:solidFill>
                  <a:srgbClr val="585858"/>
                </a:solidFill>
                <a:latin typeface="Times New Roman"/>
                <a:cs typeface="Times New Roman"/>
              </a:rPr>
              <a:t>and</a:t>
            </a:r>
            <a:r>
              <a:rPr dirty="0" sz="1600" spc="325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1600" spc="114">
                <a:solidFill>
                  <a:srgbClr val="585858"/>
                </a:solidFill>
                <a:latin typeface="Times New Roman"/>
                <a:cs typeface="Times New Roman"/>
              </a:rPr>
              <a:t>dependencies.</a:t>
            </a:r>
            <a:endParaRPr sz="1600">
              <a:latin typeface="Times New Roman"/>
              <a:cs typeface="Times New Roman"/>
            </a:endParaRPr>
          </a:p>
          <a:p>
            <a:pPr lvl="1" marL="240665" indent="-227965">
              <a:lnSpc>
                <a:spcPct val="100000"/>
              </a:lnSpc>
              <a:spcBef>
                <a:spcPts val="1575"/>
              </a:spcBef>
              <a:buFont typeface="Arial"/>
              <a:buChar char="•"/>
              <a:tabLst>
                <a:tab pos="240665" algn="l"/>
              </a:tabLst>
            </a:pPr>
            <a:r>
              <a:rPr dirty="0" sz="1600" spc="114">
                <a:solidFill>
                  <a:srgbClr val="585858"/>
                </a:solidFill>
                <a:latin typeface="Times New Roman"/>
                <a:cs typeface="Times New Roman"/>
              </a:rPr>
              <a:t>Performs</a:t>
            </a:r>
            <a:r>
              <a:rPr dirty="0" sz="1600" spc="355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1600" spc="110">
                <a:solidFill>
                  <a:srgbClr val="585858"/>
                </a:solidFill>
                <a:latin typeface="Times New Roman"/>
                <a:cs typeface="Times New Roman"/>
              </a:rPr>
              <a:t>initial</a:t>
            </a:r>
            <a:r>
              <a:rPr dirty="0" sz="1600" spc="37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1600" spc="110">
                <a:solidFill>
                  <a:srgbClr val="585858"/>
                </a:solidFill>
                <a:latin typeface="Times New Roman"/>
                <a:cs typeface="Times New Roman"/>
              </a:rPr>
              <a:t>static</a:t>
            </a:r>
            <a:r>
              <a:rPr dirty="0" sz="1600" spc="37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1600" spc="110">
                <a:solidFill>
                  <a:srgbClr val="585858"/>
                </a:solidFill>
                <a:latin typeface="Times New Roman"/>
                <a:cs typeface="Times New Roman"/>
              </a:rPr>
              <a:t>analysis.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570"/>
              </a:spcBef>
            </a:pPr>
            <a:r>
              <a:rPr dirty="0" spc="-10"/>
              <a:t>2</a:t>
            </a:r>
            <a:r>
              <a:rPr dirty="0" spc="-254"/>
              <a:t> </a:t>
            </a:r>
            <a:r>
              <a:rPr dirty="0"/>
              <a:t>.</a:t>
            </a:r>
            <a:r>
              <a:rPr dirty="0" spc="305"/>
              <a:t> </a:t>
            </a:r>
            <a:r>
              <a:rPr dirty="0" spc="100"/>
              <a:t>Code</a:t>
            </a:r>
            <a:r>
              <a:rPr dirty="0" spc="305"/>
              <a:t> </a:t>
            </a:r>
            <a:r>
              <a:rPr dirty="0" spc="110"/>
              <a:t>Review</a:t>
            </a:r>
            <a:r>
              <a:rPr dirty="0" spc="350"/>
              <a:t> </a:t>
            </a:r>
            <a:r>
              <a:rPr dirty="0" spc="100"/>
              <a:t>Module</a:t>
            </a:r>
          </a:p>
          <a:p>
            <a:pPr marL="240665" indent="-227965">
              <a:lnSpc>
                <a:spcPct val="100000"/>
              </a:lnSpc>
              <a:spcBef>
                <a:spcPts val="1585"/>
              </a:spcBef>
              <a:buFont typeface="Arial"/>
              <a:buChar char="•"/>
              <a:tabLst>
                <a:tab pos="240665" algn="l"/>
              </a:tabLst>
            </a:pPr>
            <a:r>
              <a:rPr dirty="0" spc="120" b="0">
                <a:latin typeface="Times New Roman"/>
                <a:cs typeface="Times New Roman"/>
              </a:rPr>
              <a:t>Identifies</a:t>
            </a:r>
            <a:r>
              <a:rPr dirty="0" spc="365" b="0">
                <a:latin typeface="Times New Roman"/>
                <a:cs typeface="Times New Roman"/>
              </a:rPr>
              <a:t> </a:t>
            </a:r>
            <a:r>
              <a:rPr dirty="0" spc="105" b="0">
                <a:latin typeface="Times New Roman"/>
                <a:cs typeface="Times New Roman"/>
              </a:rPr>
              <a:t>bugs,</a:t>
            </a:r>
            <a:r>
              <a:rPr dirty="0" spc="325" b="0">
                <a:latin typeface="Times New Roman"/>
                <a:cs typeface="Times New Roman"/>
              </a:rPr>
              <a:t> </a:t>
            </a:r>
            <a:r>
              <a:rPr dirty="0" spc="95" b="0">
                <a:latin typeface="Times New Roman"/>
                <a:cs typeface="Times New Roman"/>
              </a:rPr>
              <a:t>code</a:t>
            </a:r>
            <a:r>
              <a:rPr dirty="0" spc="330" b="0">
                <a:latin typeface="Times New Roman"/>
                <a:cs typeface="Times New Roman"/>
              </a:rPr>
              <a:t> </a:t>
            </a:r>
            <a:r>
              <a:rPr dirty="0" spc="110" b="0">
                <a:latin typeface="Times New Roman"/>
                <a:cs typeface="Times New Roman"/>
              </a:rPr>
              <a:t>smells,</a:t>
            </a:r>
            <a:r>
              <a:rPr dirty="0" spc="365" b="0">
                <a:latin typeface="Times New Roman"/>
                <a:cs typeface="Times New Roman"/>
              </a:rPr>
              <a:t> </a:t>
            </a:r>
            <a:r>
              <a:rPr dirty="0" spc="114" b="0">
                <a:latin typeface="Times New Roman"/>
                <a:cs typeface="Times New Roman"/>
              </a:rPr>
              <a:t>quality</a:t>
            </a:r>
            <a:r>
              <a:rPr dirty="0" spc="345" b="0">
                <a:latin typeface="Times New Roman"/>
                <a:cs typeface="Times New Roman"/>
              </a:rPr>
              <a:t> </a:t>
            </a:r>
            <a:r>
              <a:rPr dirty="0" spc="114" b="0">
                <a:latin typeface="Times New Roman"/>
                <a:cs typeface="Times New Roman"/>
              </a:rPr>
              <a:t>issues,</a:t>
            </a:r>
            <a:r>
              <a:rPr dirty="0" spc="360" b="0">
                <a:latin typeface="Times New Roman"/>
                <a:cs typeface="Times New Roman"/>
              </a:rPr>
              <a:t> </a:t>
            </a:r>
            <a:r>
              <a:rPr dirty="0" spc="85" b="0">
                <a:latin typeface="Times New Roman"/>
                <a:cs typeface="Times New Roman"/>
              </a:rPr>
              <a:t>and</a:t>
            </a:r>
            <a:r>
              <a:rPr dirty="0" spc="330" b="0">
                <a:latin typeface="Times New Roman"/>
                <a:cs typeface="Times New Roman"/>
              </a:rPr>
              <a:t> </a:t>
            </a:r>
            <a:r>
              <a:rPr dirty="0" spc="114" b="0">
                <a:latin typeface="Times New Roman"/>
                <a:cs typeface="Times New Roman"/>
              </a:rPr>
              <a:t>security</a:t>
            </a:r>
            <a:r>
              <a:rPr dirty="0" spc="360" b="0">
                <a:latin typeface="Times New Roman"/>
                <a:cs typeface="Times New Roman"/>
              </a:rPr>
              <a:t> </a:t>
            </a:r>
            <a:r>
              <a:rPr dirty="0" spc="120" b="0">
                <a:latin typeface="Times New Roman"/>
                <a:cs typeface="Times New Roman"/>
              </a:rPr>
              <a:t>vulnerabilities.</a:t>
            </a:r>
          </a:p>
          <a:p>
            <a:pPr marL="240665" indent="-227965">
              <a:lnSpc>
                <a:spcPct val="100000"/>
              </a:lnSpc>
              <a:spcBef>
                <a:spcPts val="1570"/>
              </a:spcBef>
              <a:buFont typeface="Arial"/>
              <a:buChar char="•"/>
              <a:tabLst>
                <a:tab pos="240665" algn="l"/>
              </a:tabLst>
            </a:pPr>
            <a:r>
              <a:rPr dirty="0" spc="120" b="0">
                <a:latin typeface="Times New Roman"/>
                <a:cs typeface="Times New Roman"/>
              </a:rPr>
              <a:t>Generates</a:t>
            </a:r>
            <a:r>
              <a:rPr dirty="0" spc="360" b="0">
                <a:latin typeface="Times New Roman"/>
                <a:cs typeface="Times New Roman"/>
              </a:rPr>
              <a:t> </a:t>
            </a:r>
            <a:r>
              <a:rPr dirty="0" spc="114" b="0">
                <a:latin typeface="Times New Roman"/>
                <a:cs typeface="Times New Roman"/>
              </a:rPr>
              <a:t>detailed</a:t>
            </a:r>
            <a:r>
              <a:rPr dirty="0" spc="370" b="0">
                <a:latin typeface="Times New Roman"/>
                <a:cs typeface="Times New Roman"/>
              </a:rPr>
              <a:t> </a:t>
            </a:r>
            <a:r>
              <a:rPr dirty="0" spc="110" b="0">
                <a:latin typeface="Times New Roman"/>
                <a:cs typeface="Times New Roman"/>
              </a:rPr>
              <a:t>review</a:t>
            </a:r>
            <a:r>
              <a:rPr dirty="0" spc="350" b="0">
                <a:latin typeface="Times New Roman"/>
                <a:cs typeface="Times New Roman"/>
              </a:rPr>
              <a:t> </a:t>
            </a:r>
            <a:r>
              <a:rPr dirty="0" spc="114" b="0">
                <a:latin typeface="Times New Roman"/>
                <a:cs typeface="Times New Roman"/>
              </a:rPr>
              <a:t>findings</a:t>
            </a:r>
            <a:r>
              <a:rPr dirty="0" spc="345" b="0">
                <a:latin typeface="Times New Roman"/>
                <a:cs typeface="Times New Roman"/>
              </a:rPr>
              <a:t> </a:t>
            </a:r>
            <a:r>
              <a:rPr dirty="0" spc="85" b="0">
                <a:latin typeface="Times New Roman"/>
                <a:cs typeface="Times New Roman"/>
              </a:rPr>
              <a:t>and</a:t>
            </a:r>
            <a:r>
              <a:rPr dirty="0" spc="315" b="0">
                <a:latin typeface="Times New Roman"/>
                <a:cs typeface="Times New Roman"/>
              </a:rPr>
              <a:t> </a:t>
            </a:r>
            <a:r>
              <a:rPr dirty="0" spc="120" b="0">
                <a:latin typeface="Times New Roman"/>
                <a:cs typeface="Times New Roman"/>
              </a:rPr>
              <a:t>improvement</a:t>
            </a:r>
            <a:r>
              <a:rPr dirty="0" spc="365" b="0">
                <a:latin typeface="Times New Roman"/>
                <a:cs typeface="Times New Roman"/>
              </a:rPr>
              <a:t> </a:t>
            </a:r>
            <a:r>
              <a:rPr dirty="0" spc="110" b="0">
                <a:latin typeface="Times New Roman"/>
                <a:cs typeface="Times New Roman"/>
              </a:rPr>
              <a:t>suggestions.</a:t>
            </a:r>
          </a:p>
          <a:p>
            <a:pPr marL="12700">
              <a:lnSpc>
                <a:spcPct val="100000"/>
              </a:lnSpc>
              <a:spcBef>
                <a:spcPts val="1575"/>
              </a:spcBef>
            </a:pPr>
            <a:r>
              <a:rPr dirty="0" spc="-10"/>
              <a:t>3</a:t>
            </a:r>
            <a:r>
              <a:rPr dirty="0" spc="-254"/>
              <a:t> </a:t>
            </a:r>
            <a:r>
              <a:rPr dirty="0"/>
              <a:t>.</a:t>
            </a:r>
            <a:r>
              <a:rPr dirty="0" spc="310"/>
              <a:t> </a:t>
            </a:r>
            <a:r>
              <a:rPr dirty="0" spc="120"/>
              <a:t>Refactoring</a:t>
            </a:r>
            <a:r>
              <a:rPr dirty="0" spc="370"/>
              <a:t> </a:t>
            </a:r>
            <a:r>
              <a:rPr dirty="0" spc="100"/>
              <a:t>Module</a:t>
            </a:r>
          </a:p>
          <a:p>
            <a:pPr marL="240665" indent="-227965">
              <a:lnSpc>
                <a:spcPct val="100000"/>
              </a:lnSpc>
              <a:spcBef>
                <a:spcPts val="1585"/>
              </a:spcBef>
              <a:buFont typeface="Arial"/>
              <a:buChar char="•"/>
              <a:tabLst>
                <a:tab pos="240665" algn="l"/>
              </a:tabLst>
            </a:pPr>
            <a:r>
              <a:rPr dirty="0" spc="100" b="0">
                <a:latin typeface="Times New Roman"/>
                <a:cs typeface="Times New Roman"/>
              </a:rPr>
              <a:t>Uses</a:t>
            </a:r>
            <a:r>
              <a:rPr dirty="0" spc="330" b="0">
                <a:latin typeface="Times New Roman"/>
                <a:cs typeface="Times New Roman"/>
              </a:rPr>
              <a:t> </a:t>
            </a:r>
            <a:r>
              <a:rPr dirty="0" spc="105" b="0">
                <a:latin typeface="Times New Roman"/>
                <a:cs typeface="Times New Roman"/>
              </a:rPr>
              <a:t>review</a:t>
            </a:r>
            <a:r>
              <a:rPr dirty="0" spc="370" b="0">
                <a:latin typeface="Times New Roman"/>
                <a:cs typeface="Times New Roman"/>
              </a:rPr>
              <a:t> </a:t>
            </a:r>
            <a:r>
              <a:rPr dirty="0" spc="-20" b="0">
                <a:latin typeface="Times New Roman"/>
                <a:cs typeface="Times New Roman"/>
              </a:rPr>
              <a:t>f</a:t>
            </a:r>
            <a:r>
              <a:rPr dirty="0" spc="-245" b="0">
                <a:latin typeface="Times New Roman"/>
                <a:cs typeface="Times New Roman"/>
              </a:rPr>
              <a:t> </a:t>
            </a:r>
            <a:r>
              <a:rPr dirty="0" spc="110" b="0">
                <a:latin typeface="Times New Roman"/>
                <a:cs typeface="Times New Roman"/>
              </a:rPr>
              <a:t>indings</a:t>
            </a:r>
            <a:r>
              <a:rPr dirty="0" spc="350" b="0">
                <a:latin typeface="Times New Roman"/>
                <a:cs typeface="Times New Roman"/>
              </a:rPr>
              <a:t> </a:t>
            </a:r>
            <a:r>
              <a:rPr dirty="0" spc="60" b="0">
                <a:latin typeface="Times New Roman"/>
                <a:cs typeface="Times New Roman"/>
              </a:rPr>
              <a:t>to</a:t>
            </a:r>
            <a:r>
              <a:rPr dirty="0" spc="330" b="0">
                <a:latin typeface="Times New Roman"/>
                <a:cs typeface="Times New Roman"/>
              </a:rPr>
              <a:t> </a:t>
            </a:r>
            <a:r>
              <a:rPr dirty="0" spc="114" b="0">
                <a:latin typeface="Times New Roman"/>
                <a:cs typeface="Times New Roman"/>
              </a:rPr>
              <a:t>identify</a:t>
            </a:r>
            <a:r>
              <a:rPr dirty="0" spc="350" b="0">
                <a:latin typeface="Times New Roman"/>
                <a:cs typeface="Times New Roman"/>
              </a:rPr>
              <a:t> </a:t>
            </a:r>
            <a:r>
              <a:rPr dirty="0" spc="100" b="0">
                <a:latin typeface="Times New Roman"/>
                <a:cs typeface="Times New Roman"/>
              </a:rPr>
              <a:t>areas</a:t>
            </a:r>
            <a:r>
              <a:rPr dirty="0" spc="370" b="0">
                <a:latin typeface="Times New Roman"/>
                <a:cs typeface="Times New Roman"/>
              </a:rPr>
              <a:t> </a:t>
            </a:r>
            <a:r>
              <a:rPr dirty="0" spc="114" b="0">
                <a:latin typeface="Times New Roman"/>
                <a:cs typeface="Times New Roman"/>
              </a:rPr>
              <a:t>requiring</a:t>
            </a:r>
            <a:r>
              <a:rPr dirty="0" spc="375" b="0">
                <a:latin typeface="Times New Roman"/>
                <a:cs typeface="Times New Roman"/>
              </a:rPr>
              <a:t> </a:t>
            </a:r>
            <a:r>
              <a:rPr dirty="0" spc="114" b="0">
                <a:latin typeface="Times New Roman"/>
                <a:cs typeface="Times New Roman"/>
              </a:rPr>
              <a:t>improvement.</a:t>
            </a:r>
          </a:p>
          <a:p>
            <a:pPr marL="240665" indent="-227965">
              <a:lnSpc>
                <a:spcPct val="100000"/>
              </a:lnSpc>
              <a:spcBef>
                <a:spcPts val="1575"/>
              </a:spcBef>
              <a:buFont typeface="Arial"/>
              <a:buChar char="•"/>
              <a:tabLst>
                <a:tab pos="240665" algn="l"/>
              </a:tabLst>
            </a:pPr>
            <a:r>
              <a:rPr dirty="0" spc="120" b="0">
                <a:latin typeface="Times New Roman"/>
                <a:cs typeface="Times New Roman"/>
              </a:rPr>
              <a:t>Generates</a:t>
            </a:r>
            <a:r>
              <a:rPr dirty="0" spc="365" b="0">
                <a:latin typeface="Times New Roman"/>
                <a:cs typeface="Times New Roman"/>
              </a:rPr>
              <a:t> </a:t>
            </a:r>
            <a:r>
              <a:rPr dirty="0" spc="114" b="0">
                <a:latin typeface="Times New Roman"/>
                <a:cs typeface="Times New Roman"/>
              </a:rPr>
              <a:t>suitable</a:t>
            </a:r>
            <a:r>
              <a:rPr dirty="0" spc="370" b="0">
                <a:latin typeface="Times New Roman"/>
                <a:cs typeface="Times New Roman"/>
              </a:rPr>
              <a:t> </a:t>
            </a:r>
            <a:r>
              <a:rPr dirty="0" spc="120" b="0">
                <a:latin typeface="Times New Roman"/>
                <a:cs typeface="Times New Roman"/>
              </a:rPr>
              <a:t>refactoring</a:t>
            </a:r>
            <a:r>
              <a:rPr dirty="0" spc="375" b="0">
                <a:latin typeface="Times New Roman"/>
                <a:cs typeface="Times New Roman"/>
              </a:rPr>
              <a:t> </a:t>
            </a:r>
            <a:r>
              <a:rPr dirty="0" spc="120" b="0">
                <a:latin typeface="Times New Roman"/>
                <a:cs typeface="Times New Roman"/>
              </a:rPr>
              <a:t>suggestions</a:t>
            </a:r>
            <a:r>
              <a:rPr dirty="0" spc="355" b="0">
                <a:latin typeface="Times New Roman"/>
                <a:cs typeface="Times New Roman"/>
              </a:rPr>
              <a:t> </a:t>
            </a:r>
            <a:r>
              <a:rPr dirty="0" spc="85" b="0">
                <a:latin typeface="Times New Roman"/>
                <a:cs typeface="Times New Roman"/>
              </a:rPr>
              <a:t>for</a:t>
            </a:r>
            <a:r>
              <a:rPr dirty="0" spc="330" b="0">
                <a:latin typeface="Times New Roman"/>
                <a:cs typeface="Times New Roman"/>
              </a:rPr>
              <a:t> </a:t>
            </a:r>
            <a:r>
              <a:rPr dirty="0" spc="85" b="0">
                <a:latin typeface="Times New Roman"/>
                <a:cs typeface="Times New Roman"/>
              </a:rPr>
              <a:t>the</a:t>
            </a:r>
            <a:r>
              <a:rPr dirty="0" spc="330" b="0">
                <a:latin typeface="Times New Roman"/>
                <a:cs typeface="Times New Roman"/>
              </a:rPr>
              <a:t> </a:t>
            </a:r>
            <a:r>
              <a:rPr dirty="0" spc="114" b="0">
                <a:latin typeface="Times New Roman"/>
                <a:cs typeface="Times New Roman"/>
              </a:rPr>
              <a:t>existing</a:t>
            </a:r>
            <a:r>
              <a:rPr dirty="0" spc="375" b="0">
                <a:latin typeface="Times New Roman"/>
                <a:cs typeface="Times New Roman"/>
              </a:rPr>
              <a:t> </a:t>
            </a:r>
            <a:r>
              <a:rPr dirty="0" spc="95" b="0">
                <a:latin typeface="Times New Roman"/>
                <a:cs typeface="Times New Roman"/>
              </a:rPr>
              <a:t>code.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57834" y="838961"/>
            <a:ext cx="7625080" cy="278701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67335" indent="-254635">
              <a:lnSpc>
                <a:spcPct val="100000"/>
              </a:lnSpc>
              <a:spcBef>
                <a:spcPts val="95"/>
              </a:spcBef>
              <a:buClr>
                <a:srgbClr val="585858"/>
              </a:buClr>
              <a:buFont typeface="Times New Roman"/>
              <a:buAutoNum type="arabicPeriod" startAt="4"/>
              <a:tabLst>
                <a:tab pos="267335" algn="l"/>
              </a:tabLst>
            </a:pPr>
            <a:r>
              <a:rPr dirty="0" sz="1600" spc="60" b="1">
                <a:solidFill>
                  <a:srgbClr val="585858"/>
                </a:solidFill>
                <a:latin typeface="Times New Roman"/>
                <a:cs typeface="Times New Roman"/>
              </a:rPr>
              <a:t>Test</a:t>
            </a:r>
            <a:r>
              <a:rPr dirty="0" sz="1600" spc="345" b="1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1600" spc="120" b="1">
                <a:solidFill>
                  <a:srgbClr val="585858"/>
                </a:solidFill>
                <a:latin typeface="Times New Roman"/>
                <a:cs typeface="Times New Roman"/>
              </a:rPr>
              <a:t>Generation</a:t>
            </a:r>
            <a:r>
              <a:rPr dirty="0" sz="1600" spc="365" b="1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1600" spc="100" b="1">
                <a:solidFill>
                  <a:srgbClr val="585858"/>
                </a:solidFill>
                <a:latin typeface="Times New Roman"/>
                <a:cs typeface="Times New Roman"/>
              </a:rPr>
              <a:t>Module</a:t>
            </a:r>
            <a:endParaRPr sz="1600">
              <a:latin typeface="Times New Roman"/>
              <a:cs typeface="Times New Roman"/>
            </a:endParaRPr>
          </a:p>
          <a:p>
            <a:pPr lvl="1" marL="240665" indent="-227965">
              <a:lnSpc>
                <a:spcPct val="100000"/>
              </a:lnSpc>
              <a:spcBef>
                <a:spcPts val="1380"/>
              </a:spcBef>
              <a:buFont typeface="Arial"/>
              <a:buChar char="•"/>
              <a:tabLst>
                <a:tab pos="240665" algn="l"/>
              </a:tabLst>
            </a:pPr>
            <a:r>
              <a:rPr dirty="0" sz="1600" spc="120">
                <a:solidFill>
                  <a:srgbClr val="585858"/>
                </a:solidFill>
                <a:latin typeface="Times New Roman"/>
                <a:cs typeface="Times New Roman"/>
              </a:rPr>
              <a:t>Generates</a:t>
            </a:r>
            <a:r>
              <a:rPr dirty="0" sz="1600" spc="36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1600" spc="95">
                <a:solidFill>
                  <a:srgbClr val="585858"/>
                </a:solidFill>
                <a:latin typeface="Times New Roman"/>
                <a:cs typeface="Times New Roman"/>
              </a:rPr>
              <a:t>unit</a:t>
            </a:r>
            <a:r>
              <a:rPr dirty="0" sz="1600" spc="325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1600" spc="95">
                <a:solidFill>
                  <a:srgbClr val="585858"/>
                </a:solidFill>
                <a:latin typeface="Times New Roman"/>
                <a:cs typeface="Times New Roman"/>
              </a:rPr>
              <a:t>test</a:t>
            </a:r>
            <a:r>
              <a:rPr dirty="0" sz="1600" spc="335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1600" spc="105">
                <a:solidFill>
                  <a:srgbClr val="585858"/>
                </a:solidFill>
                <a:latin typeface="Times New Roman"/>
                <a:cs typeface="Times New Roman"/>
              </a:rPr>
              <a:t>cases</a:t>
            </a:r>
            <a:r>
              <a:rPr dirty="0" sz="1600" spc="35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1600" spc="85">
                <a:solidFill>
                  <a:srgbClr val="585858"/>
                </a:solidFill>
                <a:latin typeface="Times New Roman"/>
                <a:cs typeface="Times New Roman"/>
              </a:rPr>
              <a:t>for</a:t>
            </a:r>
            <a:r>
              <a:rPr dirty="0" sz="1600" spc="31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1600" spc="85">
                <a:solidFill>
                  <a:srgbClr val="585858"/>
                </a:solidFill>
                <a:latin typeface="Times New Roman"/>
                <a:cs typeface="Times New Roman"/>
              </a:rPr>
              <a:t>the</a:t>
            </a:r>
            <a:r>
              <a:rPr dirty="0" sz="1600" spc="325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1600" spc="120">
                <a:solidFill>
                  <a:srgbClr val="585858"/>
                </a:solidFill>
                <a:latin typeface="Times New Roman"/>
                <a:cs typeface="Times New Roman"/>
              </a:rPr>
              <a:t>reviewed/</a:t>
            </a:r>
            <a:r>
              <a:rPr dirty="0" sz="1600" spc="-245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1600" spc="125">
                <a:solidFill>
                  <a:srgbClr val="585858"/>
                </a:solidFill>
                <a:latin typeface="Times New Roman"/>
                <a:cs typeface="Times New Roman"/>
              </a:rPr>
              <a:t>refactored</a:t>
            </a:r>
            <a:r>
              <a:rPr dirty="0" sz="1600" spc="355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1600" spc="95">
                <a:solidFill>
                  <a:srgbClr val="585858"/>
                </a:solidFill>
                <a:latin typeface="Times New Roman"/>
                <a:cs typeface="Times New Roman"/>
              </a:rPr>
              <a:t>code.</a:t>
            </a:r>
            <a:endParaRPr sz="1600">
              <a:latin typeface="Times New Roman"/>
              <a:cs typeface="Times New Roman"/>
            </a:endParaRPr>
          </a:p>
          <a:p>
            <a:pPr lvl="1" marL="240665" indent="-227965">
              <a:lnSpc>
                <a:spcPct val="100000"/>
              </a:lnSpc>
              <a:spcBef>
                <a:spcPts val="1395"/>
              </a:spcBef>
              <a:buFont typeface="Arial"/>
              <a:buChar char="•"/>
              <a:tabLst>
                <a:tab pos="240665" algn="l"/>
              </a:tabLst>
            </a:pPr>
            <a:r>
              <a:rPr dirty="0" sz="1600" spc="100">
                <a:solidFill>
                  <a:srgbClr val="585858"/>
                </a:solidFill>
                <a:latin typeface="Times New Roman"/>
                <a:cs typeface="Times New Roman"/>
              </a:rPr>
              <a:t>Validates</a:t>
            </a:r>
            <a:r>
              <a:rPr dirty="0" sz="1600" spc="36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1600" spc="85">
                <a:solidFill>
                  <a:srgbClr val="585858"/>
                </a:solidFill>
                <a:latin typeface="Times New Roman"/>
                <a:cs typeface="Times New Roman"/>
              </a:rPr>
              <a:t>the</a:t>
            </a:r>
            <a:r>
              <a:rPr dirty="0" sz="1600" spc="325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1600" spc="114">
                <a:solidFill>
                  <a:srgbClr val="585858"/>
                </a:solidFill>
                <a:latin typeface="Times New Roman"/>
                <a:cs typeface="Times New Roman"/>
              </a:rPr>
              <a:t>generated</a:t>
            </a:r>
            <a:r>
              <a:rPr dirty="0" sz="1600" spc="37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1600" spc="105">
                <a:solidFill>
                  <a:srgbClr val="585858"/>
                </a:solidFill>
                <a:latin typeface="Times New Roman"/>
                <a:cs typeface="Times New Roman"/>
              </a:rPr>
              <a:t>tests</a:t>
            </a:r>
            <a:r>
              <a:rPr dirty="0" sz="1600" spc="35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1600" spc="85">
                <a:solidFill>
                  <a:srgbClr val="585858"/>
                </a:solidFill>
                <a:latin typeface="Times New Roman"/>
                <a:cs typeface="Times New Roman"/>
              </a:rPr>
              <a:t>and</a:t>
            </a:r>
            <a:r>
              <a:rPr dirty="0" sz="1600" spc="32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1600" spc="120">
                <a:solidFill>
                  <a:srgbClr val="585858"/>
                </a:solidFill>
                <a:latin typeface="Times New Roman"/>
                <a:cs typeface="Times New Roman"/>
              </a:rPr>
              <a:t>identifies</a:t>
            </a:r>
            <a:r>
              <a:rPr dirty="0" sz="1600" spc="355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1600" spc="120">
                <a:solidFill>
                  <a:srgbClr val="585858"/>
                </a:solidFill>
                <a:latin typeface="Times New Roman"/>
                <a:cs typeface="Times New Roman"/>
              </a:rPr>
              <a:t>potential</a:t>
            </a:r>
            <a:r>
              <a:rPr dirty="0" sz="1600" spc="36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1600" spc="105">
                <a:solidFill>
                  <a:srgbClr val="585858"/>
                </a:solidFill>
                <a:latin typeface="Times New Roman"/>
                <a:cs typeface="Times New Roman"/>
              </a:rPr>
              <a:t>issues.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80"/>
              </a:spcBef>
            </a:pPr>
            <a:r>
              <a:rPr dirty="0" sz="1600" spc="-10" b="1">
                <a:solidFill>
                  <a:srgbClr val="585858"/>
                </a:solidFill>
                <a:latin typeface="Times New Roman"/>
                <a:cs typeface="Times New Roman"/>
              </a:rPr>
              <a:t>5</a:t>
            </a:r>
            <a:r>
              <a:rPr dirty="0" sz="1600" spc="-254" b="1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1600" b="1">
                <a:solidFill>
                  <a:srgbClr val="585858"/>
                </a:solidFill>
                <a:latin typeface="Times New Roman"/>
                <a:cs typeface="Times New Roman"/>
              </a:rPr>
              <a:t>.</a:t>
            </a:r>
            <a:r>
              <a:rPr dirty="0" sz="1600" spc="270" b="1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1600" b="1">
                <a:solidFill>
                  <a:srgbClr val="585858"/>
                </a:solidFill>
                <a:latin typeface="Times New Roman"/>
                <a:cs typeface="Times New Roman"/>
              </a:rPr>
              <a:t>Va</a:t>
            </a:r>
            <a:r>
              <a:rPr dirty="0" sz="1600" spc="-250" b="1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1600" spc="114" b="1">
                <a:solidFill>
                  <a:srgbClr val="585858"/>
                </a:solidFill>
                <a:latin typeface="Times New Roman"/>
                <a:cs typeface="Times New Roman"/>
              </a:rPr>
              <a:t>lidation</a:t>
            </a:r>
            <a:r>
              <a:rPr dirty="0" sz="1600" spc="355" b="1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1600" b="1">
                <a:solidFill>
                  <a:srgbClr val="585858"/>
                </a:solidFill>
                <a:latin typeface="Times New Roman"/>
                <a:cs typeface="Times New Roman"/>
              </a:rPr>
              <a:t>&amp;</a:t>
            </a:r>
            <a:r>
              <a:rPr dirty="0" sz="1600" spc="315" b="1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1600" spc="100" b="1">
                <a:solidFill>
                  <a:srgbClr val="585858"/>
                </a:solidFill>
                <a:latin typeface="Times New Roman"/>
                <a:cs typeface="Times New Roman"/>
              </a:rPr>
              <a:t>Human</a:t>
            </a:r>
            <a:r>
              <a:rPr dirty="0" sz="1600" spc="260" b="1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1600" spc="114" b="1">
                <a:solidFill>
                  <a:srgbClr val="585858"/>
                </a:solidFill>
                <a:latin typeface="Times New Roman"/>
                <a:cs typeface="Times New Roman"/>
              </a:rPr>
              <a:t>Approval</a:t>
            </a:r>
            <a:r>
              <a:rPr dirty="0" sz="1600" spc="335" b="1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1600" spc="100" b="1">
                <a:solidFill>
                  <a:srgbClr val="585858"/>
                </a:solidFill>
                <a:latin typeface="Times New Roman"/>
                <a:cs typeface="Times New Roman"/>
              </a:rPr>
              <a:t>Module</a:t>
            </a:r>
            <a:endParaRPr sz="160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spcBef>
                <a:spcPts val="1380"/>
              </a:spcBef>
              <a:buFont typeface="Arial"/>
              <a:buChar char="•"/>
              <a:tabLst>
                <a:tab pos="240665" algn="l"/>
              </a:tabLst>
            </a:pPr>
            <a:r>
              <a:rPr dirty="0" sz="1600" spc="114">
                <a:solidFill>
                  <a:srgbClr val="585858"/>
                </a:solidFill>
                <a:latin typeface="Times New Roman"/>
                <a:cs typeface="Times New Roman"/>
              </a:rPr>
              <a:t>Presents</a:t>
            </a:r>
            <a:r>
              <a:rPr dirty="0" sz="1600" spc="365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1600" spc="85">
                <a:solidFill>
                  <a:srgbClr val="585858"/>
                </a:solidFill>
                <a:latin typeface="Times New Roman"/>
                <a:cs typeface="Times New Roman"/>
              </a:rPr>
              <a:t>the</a:t>
            </a:r>
            <a:r>
              <a:rPr dirty="0" sz="1600" spc="33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1600" spc="114">
                <a:solidFill>
                  <a:srgbClr val="585858"/>
                </a:solidFill>
                <a:latin typeface="Times New Roman"/>
                <a:cs typeface="Times New Roman"/>
              </a:rPr>
              <a:t>proposed</a:t>
            </a:r>
            <a:r>
              <a:rPr dirty="0" sz="1600" spc="35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1600" spc="110">
                <a:solidFill>
                  <a:srgbClr val="585858"/>
                </a:solidFill>
                <a:latin typeface="Times New Roman"/>
                <a:cs typeface="Times New Roman"/>
              </a:rPr>
              <a:t>changes</a:t>
            </a:r>
            <a:r>
              <a:rPr dirty="0" sz="1600" spc="355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1600" spc="85">
                <a:solidFill>
                  <a:srgbClr val="585858"/>
                </a:solidFill>
                <a:latin typeface="Times New Roman"/>
                <a:cs typeface="Times New Roman"/>
              </a:rPr>
              <a:t>and</a:t>
            </a:r>
            <a:r>
              <a:rPr dirty="0" sz="1600" spc="325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1600" spc="114">
                <a:solidFill>
                  <a:srgbClr val="585858"/>
                </a:solidFill>
                <a:latin typeface="Times New Roman"/>
                <a:cs typeface="Times New Roman"/>
              </a:rPr>
              <a:t>generated</a:t>
            </a:r>
            <a:r>
              <a:rPr dirty="0" sz="1600" spc="375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1600" spc="100">
                <a:solidFill>
                  <a:srgbClr val="585858"/>
                </a:solidFill>
                <a:latin typeface="Times New Roman"/>
                <a:cs typeface="Times New Roman"/>
              </a:rPr>
              <a:t>tests</a:t>
            </a:r>
            <a:r>
              <a:rPr dirty="0" sz="1600" spc="355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1600" spc="90">
                <a:solidFill>
                  <a:srgbClr val="585858"/>
                </a:solidFill>
                <a:latin typeface="Times New Roman"/>
                <a:cs typeface="Times New Roman"/>
              </a:rPr>
              <a:t>for</a:t>
            </a:r>
            <a:r>
              <a:rPr dirty="0" sz="1600" spc="32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1600" spc="95">
                <a:solidFill>
                  <a:srgbClr val="585858"/>
                </a:solidFill>
                <a:latin typeface="Times New Roman"/>
                <a:cs typeface="Times New Roman"/>
              </a:rPr>
              <a:t>human</a:t>
            </a:r>
            <a:r>
              <a:rPr dirty="0" sz="1600" spc="375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1600" spc="114">
                <a:solidFill>
                  <a:srgbClr val="585858"/>
                </a:solidFill>
                <a:latin typeface="Times New Roman"/>
                <a:cs typeface="Times New Roman"/>
              </a:rPr>
              <a:t>verification.</a:t>
            </a:r>
            <a:endParaRPr sz="160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spcBef>
                <a:spcPts val="1390"/>
              </a:spcBef>
              <a:buFont typeface="Arial"/>
              <a:buChar char="•"/>
              <a:tabLst>
                <a:tab pos="240665" algn="l"/>
              </a:tabLst>
            </a:pPr>
            <a:r>
              <a:rPr dirty="0" sz="1600" spc="110">
                <a:solidFill>
                  <a:srgbClr val="585858"/>
                </a:solidFill>
                <a:latin typeface="Times New Roman"/>
                <a:cs typeface="Times New Roman"/>
              </a:rPr>
              <a:t>Applies</a:t>
            </a:r>
            <a:r>
              <a:rPr dirty="0" sz="1600" spc="355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1600" spc="114">
                <a:solidFill>
                  <a:srgbClr val="585858"/>
                </a:solidFill>
                <a:latin typeface="Times New Roman"/>
                <a:cs typeface="Times New Roman"/>
              </a:rPr>
              <a:t>approved</a:t>
            </a:r>
            <a:r>
              <a:rPr dirty="0" sz="1600" spc="365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1600" spc="110">
                <a:solidFill>
                  <a:srgbClr val="585858"/>
                </a:solidFill>
                <a:latin typeface="Times New Roman"/>
                <a:cs typeface="Times New Roman"/>
              </a:rPr>
              <a:t>changes</a:t>
            </a:r>
            <a:r>
              <a:rPr dirty="0" sz="1600" spc="35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1600" spc="85">
                <a:solidFill>
                  <a:srgbClr val="585858"/>
                </a:solidFill>
                <a:latin typeface="Times New Roman"/>
                <a:cs typeface="Times New Roman"/>
              </a:rPr>
              <a:t>and</a:t>
            </a:r>
            <a:r>
              <a:rPr dirty="0" sz="1600" spc="33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1600" spc="105">
                <a:solidFill>
                  <a:srgbClr val="585858"/>
                </a:solidFill>
                <a:latin typeface="Times New Roman"/>
                <a:cs typeface="Times New Roman"/>
              </a:rPr>
              <a:t>sends</a:t>
            </a:r>
            <a:r>
              <a:rPr dirty="0" sz="1600" spc="33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1600" spc="114">
                <a:solidFill>
                  <a:srgbClr val="585858"/>
                </a:solidFill>
                <a:latin typeface="Times New Roman"/>
                <a:cs typeface="Times New Roman"/>
              </a:rPr>
              <a:t>rejected</a:t>
            </a:r>
            <a:r>
              <a:rPr dirty="0" sz="1600" spc="375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1600" spc="110">
                <a:solidFill>
                  <a:srgbClr val="585858"/>
                </a:solidFill>
                <a:latin typeface="Times New Roman"/>
                <a:cs typeface="Times New Roman"/>
              </a:rPr>
              <a:t>changes</a:t>
            </a:r>
            <a:r>
              <a:rPr dirty="0" sz="1600" spc="36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1600" spc="95">
                <a:solidFill>
                  <a:srgbClr val="585858"/>
                </a:solidFill>
                <a:latin typeface="Times New Roman"/>
                <a:cs typeface="Times New Roman"/>
              </a:rPr>
              <a:t>back</a:t>
            </a:r>
            <a:r>
              <a:rPr dirty="0" sz="1600" spc="34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1600" spc="85">
                <a:solidFill>
                  <a:srgbClr val="585858"/>
                </a:solidFill>
                <a:latin typeface="Times New Roman"/>
                <a:cs typeface="Times New Roman"/>
              </a:rPr>
              <a:t>for</a:t>
            </a:r>
            <a:r>
              <a:rPr dirty="0" sz="1600" spc="32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1600" spc="110">
                <a:solidFill>
                  <a:srgbClr val="585858"/>
                </a:solidFill>
                <a:latin typeface="Times New Roman"/>
                <a:cs typeface="Times New Roman"/>
              </a:rPr>
              <a:t>revision.</a:t>
            </a:r>
            <a:endParaRPr sz="160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spcBef>
                <a:spcPts val="1380"/>
              </a:spcBef>
              <a:buFont typeface="Arial"/>
              <a:buChar char="•"/>
              <a:tabLst>
                <a:tab pos="240665" algn="l"/>
              </a:tabLst>
            </a:pPr>
            <a:r>
              <a:rPr dirty="0" sz="1600" spc="114">
                <a:solidFill>
                  <a:srgbClr val="585858"/>
                </a:solidFill>
                <a:latin typeface="Times New Roman"/>
                <a:cs typeface="Times New Roman"/>
              </a:rPr>
              <a:t>Produces</a:t>
            </a:r>
            <a:r>
              <a:rPr dirty="0" sz="1600" spc="355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1600" spc="85">
                <a:solidFill>
                  <a:srgbClr val="585858"/>
                </a:solidFill>
                <a:latin typeface="Times New Roman"/>
                <a:cs typeface="Times New Roman"/>
              </a:rPr>
              <a:t>the</a:t>
            </a:r>
            <a:r>
              <a:rPr dirty="0" sz="1600" spc="33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1600" spc="-20">
                <a:solidFill>
                  <a:srgbClr val="585858"/>
                </a:solidFill>
                <a:latin typeface="Times New Roman"/>
                <a:cs typeface="Times New Roman"/>
              </a:rPr>
              <a:t>f</a:t>
            </a:r>
            <a:r>
              <a:rPr dirty="0" sz="1600" spc="-25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1600" spc="95">
                <a:solidFill>
                  <a:srgbClr val="585858"/>
                </a:solidFill>
                <a:latin typeface="Times New Roman"/>
                <a:cs typeface="Times New Roman"/>
              </a:rPr>
              <a:t>inal</a:t>
            </a:r>
            <a:r>
              <a:rPr dirty="0" sz="1600" spc="345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1600" spc="114">
                <a:solidFill>
                  <a:srgbClr val="585858"/>
                </a:solidFill>
                <a:latin typeface="Times New Roman"/>
                <a:cs typeface="Times New Roman"/>
              </a:rPr>
              <a:t>improved</a:t>
            </a:r>
            <a:r>
              <a:rPr dirty="0" sz="1600" spc="37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1600" spc="95">
                <a:solidFill>
                  <a:srgbClr val="585858"/>
                </a:solidFill>
                <a:latin typeface="Times New Roman"/>
                <a:cs typeface="Times New Roman"/>
              </a:rPr>
              <a:t>code</a:t>
            </a:r>
            <a:r>
              <a:rPr dirty="0" sz="1600" spc="33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1600" spc="85">
                <a:solidFill>
                  <a:srgbClr val="585858"/>
                </a:solidFill>
                <a:latin typeface="Times New Roman"/>
                <a:cs typeface="Times New Roman"/>
              </a:rPr>
              <a:t>and</a:t>
            </a:r>
            <a:r>
              <a:rPr dirty="0" sz="1600" spc="325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1600" spc="95">
                <a:solidFill>
                  <a:srgbClr val="585858"/>
                </a:solidFill>
                <a:latin typeface="Times New Roman"/>
                <a:cs typeface="Times New Roman"/>
              </a:rPr>
              <a:t>unit</a:t>
            </a:r>
            <a:r>
              <a:rPr dirty="0" sz="1600" spc="-185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1600" spc="-20">
                <a:solidFill>
                  <a:srgbClr val="585858"/>
                </a:solidFill>
                <a:latin typeface="Times New Roman"/>
                <a:cs typeface="Times New Roman"/>
              </a:rPr>
              <a:t>-</a:t>
            </a:r>
            <a:r>
              <a:rPr dirty="0" sz="1600" spc="-26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1600" spc="100">
                <a:solidFill>
                  <a:srgbClr val="585858"/>
                </a:solidFill>
                <a:latin typeface="Times New Roman"/>
                <a:cs typeface="Times New Roman"/>
              </a:rPr>
              <a:t>test</a:t>
            </a:r>
            <a:r>
              <a:rPr dirty="0" sz="1600" spc="37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dirty="0" sz="1600" spc="100">
                <a:solidFill>
                  <a:srgbClr val="585858"/>
                </a:solidFill>
                <a:latin typeface="Times New Roman"/>
                <a:cs typeface="Times New Roman"/>
              </a:rPr>
              <a:t>suite.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57834" y="4562983"/>
            <a:ext cx="10327005" cy="6838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20000"/>
              </a:lnSpc>
              <a:spcBef>
                <a:spcPts val="100"/>
              </a:spcBef>
            </a:pPr>
            <a:r>
              <a:rPr dirty="0" sz="1800" spc="114" b="1">
                <a:solidFill>
                  <a:srgbClr val="585858"/>
                </a:solidFill>
                <a:latin typeface="Arial"/>
                <a:cs typeface="Arial"/>
              </a:rPr>
              <a:t>Input</a:t>
            </a:r>
            <a:r>
              <a:rPr dirty="0" sz="1800" spc="254" b="1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585858"/>
                </a:solidFill>
                <a:latin typeface="Arial"/>
                <a:cs typeface="Arial"/>
              </a:rPr>
              <a:t>&amp;</a:t>
            </a:r>
            <a:r>
              <a:rPr dirty="0" sz="1800" spc="240" b="1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dirty="0" sz="1800" spc="120" b="1">
                <a:solidFill>
                  <a:srgbClr val="585858"/>
                </a:solidFill>
                <a:latin typeface="Arial"/>
                <a:cs typeface="Arial"/>
              </a:rPr>
              <a:t>Analysis</a:t>
            </a:r>
            <a:r>
              <a:rPr dirty="0" sz="1800" spc="320" b="1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585858"/>
                </a:solidFill>
                <a:latin typeface="Arial"/>
                <a:cs typeface="Arial"/>
              </a:rPr>
              <a:t>→</a:t>
            </a:r>
            <a:r>
              <a:rPr dirty="0" sz="1800" spc="295" b="1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dirty="0" sz="1800" spc="105" b="1">
                <a:solidFill>
                  <a:srgbClr val="585858"/>
                </a:solidFill>
                <a:latin typeface="Arial"/>
                <a:cs typeface="Arial"/>
              </a:rPr>
              <a:t>Code</a:t>
            </a:r>
            <a:r>
              <a:rPr dirty="0" sz="1800" spc="275" b="1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dirty="0" sz="1800" spc="130" b="1">
                <a:solidFill>
                  <a:srgbClr val="585858"/>
                </a:solidFill>
                <a:latin typeface="Arial"/>
                <a:cs typeface="Arial"/>
              </a:rPr>
              <a:t>Reviewer</a:t>
            </a:r>
            <a:r>
              <a:rPr dirty="0" sz="1800" spc="190" b="1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dirty="0" sz="1800" spc="105" b="1">
                <a:solidFill>
                  <a:srgbClr val="585858"/>
                </a:solidFill>
                <a:latin typeface="Arial"/>
                <a:cs typeface="Arial"/>
              </a:rPr>
              <a:t>Agent</a:t>
            </a:r>
            <a:r>
              <a:rPr dirty="0" sz="1800" spc="330" b="1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585858"/>
                </a:solidFill>
                <a:latin typeface="Arial"/>
                <a:cs typeface="Arial"/>
              </a:rPr>
              <a:t>→</a:t>
            </a:r>
            <a:r>
              <a:rPr dirty="0" sz="1800" spc="305" b="1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dirty="0" sz="1800" spc="130" b="1">
                <a:solidFill>
                  <a:srgbClr val="585858"/>
                </a:solidFill>
                <a:latin typeface="Arial"/>
                <a:cs typeface="Arial"/>
              </a:rPr>
              <a:t>Refactoring</a:t>
            </a:r>
            <a:r>
              <a:rPr dirty="0" sz="1800" spc="200" b="1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dirty="0" sz="1800" spc="105" b="1">
                <a:solidFill>
                  <a:srgbClr val="585858"/>
                </a:solidFill>
                <a:latin typeface="Arial"/>
                <a:cs typeface="Arial"/>
              </a:rPr>
              <a:t>Agent</a:t>
            </a:r>
            <a:r>
              <a:rPr dirty="0" sz="1800" spc="330" b="1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585858"/>
                </a:solidFill>
                <a:latin typeface="Arial"/>
                <a:cs typeface="Arial"/>
              </a:rPr>
              <a:t>→</a:t>
            </a:r>
            <a:r>
              <a:rPr dirty="0" sz="1800" spc="290" b="1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dirty="0" sz="1800" spc="70" b="1">
                <a:solidFill>
                  <a:srgbClr val="585858"/>
                </a:solidFill>
                <a:latin typeface="Arial"/>
                <a:cs typeface="Arial"/>
              </a:rPr>
              <a:t>Test</a:t>
            </a:r>
            <a:r>
              <a:rPr dirty="0" sz="1800" spc="295" b="1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dirty="0" sz="1800" spc="114" b="1">
                <a:solidFill>
                  <a:srgbClr val="585858"/>
                </a:solidFill>
                <a:latin typeface="Arial"/>
                <a:cs typeface="Arial"/>
              </a:rPr>
              <a:t>Generation </a:t>
            </a:r>
            <a:r>
              <a:rPr dirty="0" sz="1800" spc="100" b="1">
                <a:solidFill>
                  <a:srgbClr val="585858"/>
                </a:solidFill>
                <a:latin typeface="Arial"/>
                <a:cs typeface="Arial"/>
              </a:rPr>
              <a:t>Agent</a:t>
            </a:r>
            <a:r>
              <a:rPr dirty="0" sz="1800" spc="330" b="1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585858"/>
                </a:solidFill>
                <a:latin typeface="Arial"/>
                <a:cs typeface="Arial"/>
              </a:rPr>
              <a:t>→</a:t>
            </a:r>
            <a:r>
              <a:rPr dirty="0" sz="1800" spc="295" b="1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dirty="0" sz="1800" spc="110" b="1">
                <a:solidFill>
                  <a:srgbClr val="585858"/>
                </a:solidFill>
                <a:latin typeface="Arial"/>
                <a:cs typeface="Arial"/>
              </a:rPr>
              <a:t>Human</a:t>
            </a:r>
            <a:r>
              <a:rPr dirty="0" sz="1800" spc="229" b="1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dirty="0" sz="1800" spc="114" b="1">
                <a:solidFill>
                  <a:srgbClr val="585858"/>
                </a:solidFill>
                <a:latin typeface="Arial"/>
                <a:cs typeface="Arial"/>
              </a:rPr>
              <a:t>Approval</a:t>
            </a:r>
            <a:r>
              <a:rPr dirty="0" sz="1800" spc="350" b="1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585858"/>
                </a:solidFill>
                <a:latin typeface="Arial"/>
                <a:cs typeface="Arial"/>
              </a:rPr>
              <a:t>&amp;</a:t>
            </a:r>
            <a:r>
              <a:rPr dirty="0" sz="1800" spc="305" b="1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dirty="0" sz="1800" spc="114" b="1">
                <a:solidFill>
                  <a:srgbClr val="585858"/>
                </a:solidFill>
                <a:latin typeface="Arial"/>
                <a:cs typeface="Arial"/>
              </a:rPr>
              <a:t>Final</a:t>
            </a:r>
            <a:r>
              <a:rPr dirty="0" sz="1800" spc="275" b="1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dirty="0" sz="1800" spc="105" b="1">
                <a:solidFill>
                  <a:srgbClr val="585858"/>
                </a:solidFill>
                <a:latin typeface="Arial"/>
                <a:cs typeface="Arial"/>
              </a:rPr>
              <a:t>Output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151890" algn="l"/>
              </a:tabLst>
            </a:pPr>
            <a:r>
              <a:rPr dirty="0" spc="160"/>
              <a:t>UML</a:t>
            </a:r>
            <a:r>
              <a:rPr dirty="0"/>
              <a:t>	</a:t>
            </a:r>
            <a:r>
              <a:rPr dirty="0" spc="240"/>
              <a:t>DIAGRAMS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85901" y="1388109"/>
            <a:ext cx="255143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70">
                <a:solidFill>
                  <a:srgbClr val="585858"/>
                </a:solidFill>
                <a:latin typeface="Arial"/>
                <a:cs typeface="Arial"/>
              </a:rPr>
              <a:t>1.</a:t>
            </a:r>
            <a:r>
              <a:rPr dirty="0" sz="1800" spc="29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dirty="0" sz="1800" spc="100">
                <a:solidFill>
                  <a:srgbClr val="585858"/>
                </a:solidFill>
                <a:latin typeface="Arial"/>
                <a:cs typeface="Arial"/>
              </a:rPr>
              <a:t>Use</a:t>
            </a:r>
            <a:r>
              <a:rPr dirty="0" sz="1800" spc="285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dirty="0" sz="1800" spc="110">
                <a:solidFill>
                  <a:srgbClr val="585858"/>
                </a:solidFill>
                <a:latin typeface="Arial"/>
                <a:cs typeface="Arial"/>
              </a:rPr>
              <a:t>Case</a:t>
            </a:r>
            <a:r>
              <a:rPr dirty="0" sz="1800" spc="30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dirty="0" sz="1800" spc="110">
                <a:solidFill>
                  <a:srgbClr val="585858"/>
                </a:solidFill>
                <a:latin typeface="Arial"/>
                <a:cs typeface="Arial"/>
              </a:rPr>
              <a:t>Diagram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24553" y="1314056"/>
            <a:ext cx="6611239" cy="495363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88365" y="552703"/>
            <a:ext cx="226314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75">
                <a:solidFill>
                  <a:srgbClr val="585858"/>
                </a:solidFill>
                <a:latin typeface="Arial"/>
                <a:cs typeface="Arial"/>
              </a:rPr>
              <a:t>2.</a:t>
            </a:r>
            <a:r>
              <a:rPr dirty="0" sz="1800" spc="204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dirty="0" sz="1800" spc="130">
                <a:solidFill>
                  <a:srgbClr val="585858"/>
                </a:solidFill>
                <a:latin typeface="Arial"/>
                <a:cs typeface="Arial"/>
              </a:rPr>
              <a:t>Activity</a:t>
            </a:r>
            <a:r>
              <a:rPr dirty="0" sz="1800" spc="28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dirty="0" sz="1800" spc="114">
                <a:solidFill>
                  <a:srgbClr val="585858"/>
                </a:solidFill>
                <a:latin typeface="Arial"/>
                <a:cs typeface="Arial"/>
              </a:rPr>
              <a:t>Diagram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11677" y="651776"/>
            <a:ext cx="6099302" cy="5408549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62178" y="542925"/>
            <a:ext cx="257619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70">
                <a:solidFill>
                  <a:srgbClr val="585858"/>
                </a:solidFill>
                <a:latin typeface="Arial"/>
                <a:cs typeface="Arial"/>
              </a:rPr>
              <a:t>3.</a:t>
            </a:r>
            <a:r>
              <a:rPr dirty="0" sz="1800" spc="295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dirty="0" sz="1800" spc="125">
                <a:solidFill>
                  <a:srgbClr val="585858"/>
                </a:solidFill>
                <a:latin typeface="Arial"/>
                <a:cs typeface="Arial"/>
              </a:rPr>
              <a:t>Sequence</a:t>
            </a:r>
            <a:r>
              <a:rPr dirty="0" sz="1800" spc="285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dirty="0" sz="1800" spc="110">
                <a:solidFill>
                  <a:srgbClr val="585858"/>
                </a:solidFill>
                <a:latin typeface="Arial"/>
                <a:cs typeface="Arial"/>
              </a:rPr>
              <a:t>Diagram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20645" y="1245158"/>
            <a:ext cx="7937754" cy="478599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8949" y="735025"/>
            <a:ext cx="2747645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70">
                <a:solidFill>
                  <a:srgbClr val="585858"/>
                </a:solidFill>
                <a:latin typeface="Arial"/>
                <a:cs typeface="Arial"/>
              </a:rPr>
              <a:t>4.</a:t>
            </a:r>
            <a:r>
              <a:rPr dirty="0" sz="1800" spc="31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dirty="0" sz="1800" spc="125">
                <a:solidFill>
                  <a:srgbClr val="585858"/>
                </a:solidFill>
                <a:latin typeface="Arial"/>
                <a:cs typeface="Arial"/>
              </a:rPr>
              <a:t>Component</a:t>
            </a:r>
            <a:r>
              <a:rPr dirty="0" sz="1800" spc="30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dirty="0" sz="1800" spc="114">
                <a:solidFill>
                  <a:srgbClr val="585858"/>
                </a:solidFill>
                <a:latin typeface="Arial"/>
                <a:cs typeface="Arial"/>
              </a:rPr>
              <a:t>Diagram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51354" y="1021397"/>
            <a:ext cx="7169277" cy="517512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Narisetty Pujitha</dc:creator>
  <dc:title>KOMMURI PRATAP REDDY INSTITUTE OF TECHNOLOGY  (UGC-Autonomous Institution) Ghanpur(V), Ghatkesar(M), Medchal(D), Hyderabad-500088</dc:title>
  <dcterms:created xsi:type="dcterms:W3CDTF">2026-10-06T17:58:55Z</dcterms:created>
  <dcterms:modified xsi:type="dcterms:W3CDTF">2026-10-06T17:58:55Z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2026-10-06T00:00:00Z</vt:filetime>
  </property>
  <property fmtid="{D5CDD505-2E9C-101B-9397-08002B2CF9AE}" pid="3" name="Creator">
    <vt:lpwstr>Microsoft® PowerPoint® 2024</vt:lpwstr>
  </property>
  <property fmtid="{D5CDD505-2E9C-101B-9397-08002B2CF9AE}" pid="4" name="LastSaved">
    <vt:filetime>2026-10-06T00:00:00Z</vt:filetime>
  </property>
  <property fmtid="{D5CDD505-2E9C-101B-9397-08002B2CF9AE}" pid="5" name="Producer">
    <vt:lpwstr>Microsoft® PowerPoint® 2024</vt:lpwstr>
  </property>
</Properties>
</file>